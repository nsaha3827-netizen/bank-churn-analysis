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8" r:id="rId7"/>
    <p:sldId id="261" r:id="rId8"/>
    <p:sldId id="262" r:id="rId9"/>
    <p:sldId id="267" r:id="rId10"/>
    <p:sldId id="263" r:id="rId11"/>
    <p:sldId id="264" r:id="rId12"/>
    <p:sldId id="265" r:id="rId13"/>
    <p:sldId id="266" r:id="rId14"/>
  </p:sldIdLst>
  <p:sldSz cx="18288000" cy="10287000"/>
  <p:notesSz cx="6858000" cy="9144000"/>
  <p:embeddedFontLst>
    <p:embeddedFont>
      <p:font typeface="Arimo" panose="020B0604020202020204" charset="0"/>
      <p:regular r:id="rId16"/>
    </p:embeddedFont>
    <p:embeddedFont>
      <p:font typeface="ITC Avant Garde Gothic" panose="020B0604020202020204" charset="0"/>
      <p:regular r:id="rId17"/>
    </p:embeddedFont>
    <p:embeddedFont>
      <p:font typeface="ITC Avant Garde Gothic Bold" panose="020B0604020202020204" charset="0"/>
      <p:regular r:id="rId18"/>
    </p:embeddedFont>
    <p:embeddedFont>
      <p:font typeface="TT Fors" panose="020B0604020202020204" charset="0"/>
      <p:regular r:id="rId19"/>
    </p:embeddedFont>
    <p:embeddedFont>
      <p:font typeface="TT Fors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6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0DA887-79F0-4E5E-B7D0-298B7FA27945}" type="datetimeFigureOut">
              <a:rPr lang="en-IN" smtClean="0"/>
              <a:t>02-11-2025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0A936F-52BE-4FC3-BE10-30E81399E760}" type="slidenum">
              <a:rPr lang="en-IN" smtClean="0"/>
              <a:t>‹#›</a:t>
            </a:fld>
            <a:endParaRPr lang="en-IN"/>
          </a:p>
        </p:txBody>
      </p:sp>
    </p:spTree>
    <p:extLst>
      <p:ext uri="{BB962C8B-B14F-4D97-AF65-F5344CB8AC3E}">
        <p14:creationId xmlns:p14="http://schemas.microsoft.com/office/powerpoint/2010/main" val="736548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80A936F-52BE-4FC3-BE10-30E81399E760}" type="slidenum">
              <a:rPr lang="en-IN" smtClean="0"/>
              <a:t>8</a:t>
            </a:fld>
            <a:endParaRPr lang="en-IN"/>
          </a:p>
        </p:txBody>
      </p:sp>
    </p:spTree>
    <p:extLst>
      <p:ext uri="{BB962C8B-B14F-4D97-AF65-F5344CB8AC3E}">
        <p14:creationId xmlns:p14="http://schemas.microsoft.com/office/powerpoint/2010/main" val="3167737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FD8DC"/>
        </a:solidFill>
        <a:effectLst/>
      </p:bgPr>
    </p:bg>
    <p:spTree>
      <p:nvGrpSpPr>
        <p:cNvPr id="1" name=""/>
        <p:cNvGrpSpPr/>
        <p:nvPr/>
      </p:nvGrpSpPr>
      <p:grpSpPr>
        <a:xfrm>
          <a:off x="0" y="0"/>
          <a:ext cx="0" cy="0"/>
          <a:chOff x="0" y="0"/>
          <a:chExt cx="0" cy="0"/>
        </a:xfrm>
      </p:grpSpPr>
      <p:grpSp>
        <p:nvGrpSpPr>
          <p:cNvPr id="2" name="Group 2"/>
          <p:cNvGrpSpPr/>
          <p:nvPr/>
        </p:nvGrpSpPr>
        <p:grpSpPr>
          <a:xfrm>
            <a:off x="11868150" y="0"/>
            <a:ext cx="6419850" cy="10287000"/>
            <a:chOff x="0" y="0"/>
            <a:chExt cx="994603" cy="1593725"/>
          </a:xfrm>
        </p:grpSpPr>
        <p:sp>
          <p:nvSpPr>
            <p:cNvPr id="3" name="Freeform 3"/>
            <p:cNvSpPr/>
            <p:nvPr/>
          </p:nvSpPr>
          <p:spPr>
            <a:xfrm>
              <a:off x="0" y="0"/>
              <a:ext cx="994603" cy="1593725"/>
            </a:xfrm>
            <a:custGeom>
              <a:avLst/>
              <a:gdLst/>
              <a:ahLst/>
              <a:cxnLst/>
              <a:rect l="l" t="t" r="r" b="b"/>
              <a:pathLst>
                <a:path w="994603" h="1593725">
                  <a:moveTo>
                    <a:pt x="0" y="0"/>
                  </a:moveTo>
                  <a:lnTo>
                    <a:pt x="994603" y="0"/>
                  </a:lnTo>
                  <a:lnTo>
                    <a:pt x="994603" y="1593725"/>
                  </a:lnTo>
                  <a:lnTo>
                    <a:pt x="0" y="1593725"/>
                  </a:lnTo>
                  <a:close/>
                </a:path>
              </a:pathLst>
            </a:custGeom>
            <a:blipFill>
              <a:blip r:embed="rId2"/>
              <a:stretch>
                <a:fillRect t="-126" b="-126"/>
              </a:stretch>
            </a:blipFill>
          </p:spPr>
        </p:sp>
      </p:grpSp>
      <p:grpSp>
        <p:nvGrpSpPr>
          <p:cNvPr id="4" name="Group 4"/>
          <p:cNvGrpSpPr/>
          <p:nvPr/>
        </p:nvGrpSpPr>
        <p:grpSpPr>
          <a:xfrm>
            <a:off x="666750" y="666750"/>
            <a:ext cx="9763125" cy="3944620"/>
            <a:chOff x="0" y="0"/>
            <a:chExt cx="13017500" cy="5259494"/>
          </a:xfrm>
        </p:grpSpPr>
        <p:sp>
          <p:nvSpPr>
            <p:cNvPr id="5" name="TextBox 5"/>
            <p:cNvSpPr txBox="1"/>
            <p:nvPr/>
          </p:nvSpPr>
          <p:spPr>
            <a:xfrm>
              <a:off x="0" y="1533103"/>
              <a:ext cx="13017500" cy="3726391"/>
            </a:xfrm>
            <a:prstGeom prst="rect">
              <a:avLst/>
            </a:prstGeom>
          </p:spPr>
          <p:txBody>
            <a:bodyPr lIns="0" tIns="0" rIns="0" bIns="0" rtlCol="0" anchor="t">
              <a:spAutoFit/>
            </a:bodyPr>
            <a:lstStyle/>
            <a:p>
              <a:pPr marL="0" lvl="0" indent="0" algn="l">
                <a:lnSpc>
                  <a:spcPts val="9999"/>
                </a:lnSpc>
              </a:pPr>
              <a:r>
                <a:rPr lang="en-US" sz="9999" spc="-299">
                  <a:solidFill>
                    <a:srgbClr val="000000"/>
                  </a:solidFill>
                  <a:latin typeface="ITC Avant Garde Gothic"/>
                  <a:ea typeface="ITC Avant Garde Gothic"/>
                  <a:cs typeface="ITC Avant Garde Gothic"/>
                  <a:sym typeface="ITC Avant Garde Gothic"/>
                </a:rPr>
                <a:t>Bank Churn Explained</a:t>
              </a:r>
            </a:p>
          </p:txBody>
        </p:sp>
        <p:sp>
          <p:nvSpPr>
            <p:cNvPr id="6" name="TextBox 6"/>
            <p:cNvSpPr txBox="1"/>
            <p:nvPr/>
          </p:nvSpPr>
          <p:spPr>
            <a:xfrm>
              <a:off x="0" y="-171450"/>
              <a:ext cx="13017500" cy="1041825"/>
            </a:xfrm>
            <a:prstGeom prst="rect">
              <a:avLst/>
            </a:prstGeom>
          </p:spPr>
          <p:txBody>
            <a:bodyPr lIns="0" tIns="0" rIns="0" bIns="0" rtlCol="0" anchor="t">
              <a:spAutoFit/>
            </a:bodyPr>
            <a:lstStyle/>
            <a:p>
              <a:pPr marL="0" lvl="0" indent="0" algn="l">
                <a:lnSpc>
                  <a:spcPts val="6019"/>
                </a:lnSpc>
                <a:spcBef>
                  <a:spcPct val="0"/>
                </a:spcBef>
              </a:pPr>
              <a:r>
                <a:rPr lang="en-US" sz="4299">
                  <a:solidFill>
                    <a:srgbClr val="000000"/>
                  </a:solidFill>
                  <a:latin typeface="ITC Avant Garde Gothic"/>
                  <a:ea typeface="ITC Avant Garde Gothic"/>
                  <a:cs typeface="ITC Avant Garde Gothic"/>
                  <a:sym typeface="ITC Avant Garde Gothic"/>
                </a:rPr>
                <a:t>WORLD BANK</a:t>
              </a:r>
            </a:p>
          </p:txBody>
        </p:sp>
      </p:grpSp>
      <p:sp>
        <p:nvSpPr>
          <p:cNvPr id="7" name="TextBox 7"/>
          <p:cNvSpPr txBox="1"/>
          <p:nvPr/>
        </p:nvSpPr>
        <p:spPr>
          <a:xfrm>
            <a:off x="663474" y="9181465"/>
            <a:ext cx="7194651" cy="438785"/>
          </a:xfrm>
          <a:prstGeom prst="rect">
            <a:avLst/>
          </a:prstGeom>
        </p:spPr>
        <p:txBody>
          <a:bodyPr lIns="0" tIns="0" rIns="0" bIns="0" rtlCol="0" anchor="t">
            <a:spAutoFit/>
          </a:bodyPr>
          <a:lstStyle/>
          <a:p>
            <a:pPr marL="0" lvl="0" indent="0" algn="l">
              <a:lnSpc>
                <a:spcPts val="3640"/>
              </a:lnSpc>
            </a:pPr>
            <a:r>
              <a:rPr lang="en-US" sz="2600">
                <a:solidFill>
                  <a:srgbClr val="000000"/>
                </a:solidFill>
                <a:latin typeface="TT Fors"/>
                <a:ea typeface="TT Fors"/>
                <a:cs typeface="TT Fors"/>
                <a:sym typeface="TT Fors"/>
              </a:rPr>
              <a:t>Presented by NILOY SAHA</a:t>
            </a:r>
          </a:p>
        </p:txBody>
      </p:sp>
      <p:sp>
        <p:nvSpPr>
          <p:cNvPr id="8" name="TextBox 8"/>
          <p:cNvSpPr txBox="1"/>
          <p:nvPr/>
        </p:nvSpPr>
        <p:spPr>
          <a:xfrm>
            <a:off x="2976562" y="4340224"/>
            <a:ext cx="9763125" cy="719461"/>
          </a:xfrm>
          <a:prstGeom prst="rect">
            <a:avLst/>
          </a:prstGeom>
        </p:spPr>
        <p:txBody>
          <a:bodyPr lIns="0" tIns="0" rIns="0" bIns="0" rtlCol="0" anchor="t">
            <a:spAutoFit/>
          </a:bodyPr>
          <a:lstStyle/>
          <a:p>
            <a:pPr algn="ctr">
              <a:lnSpc>
                <a:spcPts val="4700"/>
              </a:lnSpc>
              <a:spcBef>
                <a:spcPct val="0"/>
              </a:spcBef>
            </a:pPr>
            <a:r>
              <a:rPr lang="en-US" sz="4700" spc="-141">
                <a:solidFill>
                  <a:srgbClr val="000000"/>
                </a:solidFill>
                <a:latin typeface="ITC Avant Garde Gothic"/>
                <a:ea typeface="ITC Avant Garde Gothic"/>
                <a:cs typeface="ITC Avant Garde Gothic"/>
                <a:sym typeface="ITC Avant Garde Gothic"/>
              </a:rPr>
              <a:t>BY EXCEL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FD8DC"/>
        </a:solidFill>
        <a:effectLst/>
      </p:bgPr>
    </p:bg>
    <p:spTree>
      <p:nvGrpSpPr>
        <p:cNvPr id="1" name=""/>
        <p:cNvGrpSpPr/>
        <p:nvPr/>
      </p:nvGrpSpPr>
      <p:grpSpPr>
        <a:xfrm>
          <a:off x="0" y="0"/>
          <a:ext cx="0" cy="0"/>
          <a:chOff x="0" y="0"/>
          <a:chExt cx="0" cy="0"/>
        </a:xfrm>
      </p:grpSpPr>
      <p:sp>
        <p:nvSpPr>
          <p:cNvPr id="2" name="TextBox 2"/>
          <p:cNvSpPr txBox="1"/>
          <p:nvPr/>
        </p:nvSpPr>
        <p:spPr>
          <a:xfrm>
            <a:off x="695325" y="1399260"/>
            <a:ext cx="16592550" cy="3301699"/>
          </a:xfrm>
          <a:prstGeom prst="rect">
            <a:avLst/>
          </a:prstGeom>
        </p:spPr>
        <p:txBody>
          <a:bodyPr lIns="0" tIns="0" rIns="0" bIns="0" rtlCol="0" anchor="t">
            <a:spAutoFit/>
          </a:bodyPr>
          <a:lstStyle/>
          <a:p>
            <a:pPr marL="0" lvl="0" indent="0" algn="l">
              <a:lnSpc>
                <a:spcPts val="11850"/>
              </a:lnSpc>
              <a:spcBef>
                <a:spcPct val="0"/>
              </a:spcBef>
            </a:pPr>
            <a:r>
              <a:rPr lang="en-US" sz="11850" u="none" strike="noStrike" spc="-355">
                <a:solidFill>
                  <a:srgbClr val="000000"/>
                </a:solidFill>
                <a:latin typeface="ITC Avant Garde Gothic"/>
                <a:ea typeface="ITC Avant Garde Gothic"/>
                <a:cs typeface="ITC Avant Garde Gothic"/>
                <a:sym typeface="ITC Avant Garde Gothic"/>
              </a:rPr>
              <a:t>Understanding Bank Churn</a:t>
            </a:r>
          </a:p>
        </p:txBody>
      </p:sp>
      <p:sp>
        <p:nvSpPr>
          <p:cNvPr id="3" name="TextBox 3"/>
          <p:cNvSpPr txBox="1"/>
          <p:nvPr/>
        </p:nvSpPr>
        <p:spPr>
          <a:xfrm>
            <a:off x="666750" y="6689500"/>
            <a:ext cx="14028649" cy="1645013"/>
          </a:xfrm>
          <a:prstGeom prst="rect">
            <a:avLst/>
          </a:prstGeom>
        </p:spPr>
        <p:txBody>
          <a:bodyPr lIns="0" tIns="0" rIns="0" bIns="0" rtlCol="0" anchor="t">
            <a:spAutoFit/>
          </a:bodyPr>
          <a:lstStyle/>
          <a:p>
            <a:pPr marL="0" lvl="0" indent="0" algn="just">
              <a:lnSpc>
                <a:spcPts val="4355"/>
              </a:lnSpc>
            </a:pPr>
            <a:r>
              <a:rPr lang="en-US" sz="3110">
                <a:solidFill>
                  <a:srgbClr val="000000"/>
                </a:solidFill>
                <a:latin typeface="TT Fors"/>
                <a:ea typeface="TT Fors"/>
                <a:cs typeface="TT Fors"/>
                <a:sym typeface="TT Fors"/>
              </a:rPr>
              <a:t>Bank churn refers to the </a:t>
            </a:r>
            <a:r>
              <a:rPr lang="en-US" sz="3110" b="1">
                <a:solidFill>
                  <a:srgbClr val="000000"/>
                </a:solidFill>
                <a:latin typeface="TT Fors Bold"/>
                <a:ea typeface="TT Fors Bold"/>
                <a:cs typeface="TT Fors Bold"/>
                <a:sym typeface="TT Fors Bold"/>
              </a:rPr>
              <a:t>loss of customers</a:t>
            </a:r>
            <a:r>
              <a:rPr lang="en-US" sz="3110">
                <a:solidFill>
                  <a:srgbClr val="000000"/>
                </a:solidFill>
                <a:latin typeface="TT Fors"/>
                <a:ea typeface="TT Fors"/>
                <a:cs typeface="TT Fors"/>
                <a:sym typeface="TT Fors"/>
              </a:rPr>
              <a:t> over time, significantly impacting financial institutions’ profitability and growth. Understanding its drivers is essential for enhancing retention and business success.</a:t>
            </a:r>
          </a:p>
        </p:txBody>
      </p:sp>
      <p:sp>
        <p:nvSpPr>
          <p:cNvPr id="4" name="TextBox 4"/>
          <p:cNvSpPr txBox="1"/>
          <p:nvPr/>
        </p:nvSpPr>
        <p:spPr>
          <a:xfrm>
            <a:off x="666750" y="5387611"/>
            <a:ext cx="14462044" cy="719575"/>
          </a:xfrm>
          <a:prstGeom prst="rect">
            <a:avLst/>
          </a:prstGeom>
        </p:spPr>
        <p:txBody>
          <a:bodyPr lIns="0" tIns="0" rIns="0" bIns="0" rtlCol="0" anchor="t">
            <a:spAutoFit/>
          </a:bodyPr>
          <a:lstStyle/>
          <a:p>
            <a:pPr marL="0" lvl="0" indent="0" algn="l">
              <a:lnSpc>
                <a:spcPts val="5688"/>
              </a:lnSpc>
              <a:spcBef>
                <a:spcPct val="0"/>
              </a:spcBef>
            </a:pPr>
            <a:r>
              <a:rPr lang="en-US" sz="4740" u="none" strike="noStrike" spc="-142">
                <a:solidFill>
                  <a:srgbClr val="000000"/>
                </a:solidFill>
                <a:latin typeface="TT Fors"/>
                <a:ea typeface="TT Fors"/>
                <a:cs typeface="TT Fors"/>
                <a:sym typeface="TT Fors"/>
              </a:rPr>
              <a:t>Importance in Banking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FD8DC"/>
        </a:solidFill>
        <a:effectLst/>
      </p:bgPr>
    </p:bg>
    <p:spTree>
      <p:nvGrpSpPr>
        <p:cNvPr id="1" name=""/>
        <p:cNvGrpSpPr/>
        <p:nvPr/>
      </p:nvGrpSpPr>
      <p:grpSpPr>
        <a:xfrm>
          <a:off x="0" y="0"/>
          <a:ext cx="0" cy="0"/>
          <a:chOff x="0" y="0"/>
          <a:chExt cx="0" cy="0"/>
        </a:xfrm>
      </p:grpSpPr>
      <p:grpSp>
        <p:nvGrpSpPr>
          <p:cNvPr id="2" name="Group 2"/>
          <p:cNvGrpSpPr/>
          <p:nvPr/>
        </p:nvGrpSpPr>
        <p:grpSpPr>
          <a:xfrm>
            <a:off x="666750" y="1528360"/>
            <a:ext cx="17621250" cy="6344207"/>
            <a:chOff x="0" y="0"/>
            <a:chExt cx="23495000" cy="8458943"/>
          </a:xfrm>
        </p:grpSpPr>
        <p:sp>
          <p:nvSpPr>
            <p:cNvPr id="3" name="TextBox 3"/>
            <p:cNvSpPr txBox="1"/>
            <p:nvPr/>
          </p:nvSpPr>
          <p:spPr>
            <a:xfrm>
              <a:off x="0" y="0"/>
              <a:ext cx="23495000" cy="2543961"/>
            </a:xfrm>
            <a:prstGeom prst="rect">
              <a:avLst/>
            </a:prstGeom>
          </p:spPr>
          <p:txBody>
            <a:bodyPr lIns="0" tIns="0" rIns="0" bIns="0" rtlCol="0" anchor="t">
              <a:spAutoFit/>
            </a:bodyPr>
            <a:lstStyle/>
            <a:p>
              <a:pPr marL="0" lvl="0" indent="0" algn="l">
                <a:lnSpc>
                  <a:spcPts val="12585"/>
                </a:lnSpc>
                <a:spcBef>
                  <a:spcPct val="0"/>
                </a:spcBef>
              </a:pPr>
              <a:r>
                <a:rPr lang="en-US" sz="12585" u="none" strike="noStrike" spc="-377">
                  <a:solidFill>
                    <a:srgbClr val="000000"/>
                  </a:solidFill>
                  <a:latin typeface="ITC Avant Garde Gothic"/>
                  <a:ea typeface="ITC Avant Garde Gothic"/>
                  <a:cs typeface="ITC Avant Garde Gothic"/>
                  <a:sym typeface="ITC Avant Garde Gothic"/>
                </a:rPr>
                <a:t>Industry Churn Statistics</a:t>
              </a:r>
            </a:p>
          </p:txBody>
        </p:sp>
        <p:sp>
          <p:nvSpPr>
            <p:cNvPr id="4" name="TextBox 4"/>
            <p:cNvSpPr txBox="1"/>
            <p:nvPr/>
          </p:nvSpPr>
          <p:spPr>
            <a:xfrm>
              <a:off x="0" y="5387466"/>
              <a:ext cx="17461420" cy="3071478"/>
            </a:xfrm>
            <a:prstGeom prst="rect">
              <a:avLst/>
            </a:prstGeom>
          </p:spPr>
          <p:txBody>
            <a:bodyPr lIns="0" tIns="0" rIns="0" bIns="0" rtlCol="0" anchor="t">
              <a:spAutoFit/>
            </a:bodyPr>
            <a:lstStyle/>
            <a:p>
              <a:pPr marL="0" lvl="0" indent="0" algn="l">
                <a:lnSpc>
                  <a:spcPts val="4624"/>
                </a:lnSpc>
              </a:pPr>
              <a:r>
                <a:rPr lang="en-US" sz="3303">
                  <a:solidFill>
                    <a:srgbClr val="000000"/>
                  </a:solidFill>
                  <a:latin typeface="TT Fors"/>
                  <a:ea typeface="TT Fors"/>
                  <a:cs typeface="TT Fors"/>
                  <a:sym typeface="TT Fors"/>
                </a:rPr>
                <a:t>Customer churn in the banking sector remains a critical issue, One source reports that financial-services firms (including banks) have churn rate of ~19 %, underscoring the need for strategic retention initiatives to enhance customer loyalty.</a:t>
              </a:r>
            </a:p>
          </p:txBody>
        </p:sp>
        <p:sp>
          <p:nvSpPr>
            <p:cNvPr id="5" name="TextBox 5"/>
            <p:cNvSpPr txBox="1"/>
            <p:nvPr/>
          </p:nvSpPr>
          <p:spPr>
            <a:xfrm>
              <a:off x="0" y="3506734"/>
              <a:ext cx="20478210" cy="1028441"/>
            </a:xfrm>
            <a:prstGeom prst="rect">
              <a:avLst/>
            </a:prstGeom>
          </p:spPr>
          <p:txBody>
            <a:bodyPr lIns="0" tIns="0" rIns="0" bIns="0" rtlCol="0" anchor="t">
              <a:spAutoFit/>
            </a:bodyPr>
            <a:lstStyle/>
            <a:p>
              <a:pPr marL="0" lvl="0" indent="0" algn="l">
                <a:lnSpc>
                  <a:spcPts val="6040"/>
                </a:lnSpc>
                <a:spcBef>
                  <a:spcPct val="0"/>
                </a:spcBef>
              </a:pPr>
              <a:r>
                <a:rPr lang="en-US" sz="5034" u="none" strike="noStrike" spc="-151">
                  <a:solidFill>
                    <a:srgbClr val="000000"/>
                  </a:solidFill>
                  <a:latin typeface="TT Fors"/>
                  <a:ea typeface="TT Fors"/>
                  <a:cs typeface="TT Fors"/>
                  <a:sym typeface="TT Fors"/>
                </a:rPr>
                <a:t>Understanding Current Trends</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FD8DC"/>
        </a:solidFill>
        <a:effectLst/>
      </p:bgPr>
    </p:bg>
    <p:spTree>
      <p:nvGrpSpPr>
        <p:cNvPr id="1" name=""/>
        <p:cNvGrpSpPr/>
        <p:nvPr/>
      </p:nvGrpSpPr>
      <p:grpSpPr>
        <a:xfrm>
          <a:off x="0" y="0"/>
          <a:ext cx="0" cy="0"/>
          <a:chOff x="0" y="0"/>
          <a:chExt cx="0" cy="0"/>
        </a:xfrm>
      </p:grpSpPr>
      <p:sp>
        <p:nvSpPr>
          <p:cNvPr id="2" name="Freeform 2"/>
          <p:cNvSpPr/>
          <p:nvPr/>
        </p:nvSpPr>
        <p:spPr>
          <a:xfrm>
            <a:off x="0" y="2527746"/>
            <a:ext cx="18288000" cy="7759254"/>
          </a:xfrm>
          <a:custGeom>
            <a:avLst/>
            <a:gdLst/>
            <a:ahLst/>
            <a:cxnLst/>
            <a:rect l="l" t="t" r="r" b="b"/>
            <a:pathLst>
              <a:path w="18288000" h="7759254">
                <a:moveTo>
                  <a:pt x="0" y="0"/>
                </a:moveTo>
                <a:lnTo>
                  <a:pt x="18288000" y="0"/>
                </a:lnTo>
                <a:lnTo>
                  <a:pt x="18288000" y="7759254"/>
                </a:lnTo>
                <a:lnTo>
                  <a:pt x="0" y="7759254"/>
                </a:lnTo>
                <a:lnTo>
                  <a:pt x="0" y="0"/>
                </a:lnTo>
                <a:close/>
              </a:path>
            </a:pathLst>
          </a:custGeom>
          <a:blipFill>
            <a:blip r:embed="rId2"/>
            <a:stretch>
              <a:fillRect r="-5832"/>
            </a:stretch>
          </a:blipFill>
        </p:spPr>
      </p:sp>
      <p:sp>
        <p:nvSpPr>
          <p:cNvPr id="3" name="TextBox 3"/>
          <p:cNvSpPr txBox="1"/>
          <p:nvPr/>
        </p:nvSpPr>
        <p:spPr>
          <a:xfrm>
            <a:off x="626805" y="509372"/>
            <a:ext cx="17280195" cy="1295163"/>
          </a:xfrm>
          <a:prstGeom prst="rect">
            <a:avLst/>
          </a:prstGeom>
        </p:spPr>
        <p:txBody>
          <a:bodyPr wrap="square" lIns="0" tIns="0" rIns="0" bIns="0" rtlCol="0" anchor="t">
            <a:spAutoFit/>
          </a:bodyPr>
          <a:lstStyle/>
          <a:p>
            <a:pPr algn="ctr">
              <a:lnSpc>
                <a:spcPts val="9999"/>
              </a:lnSpc>
              <a:spcBef>
                <a:spcPct val="0"/>
              </a:spcBef>
            </a:pPr>
            <a:r>
              <a:rPr lang="en-US" sz="9999" spc="-299" dirty="0">
                <a:solidFill>
                  <a:srgbClr val="000000"/>
                </a:solidFill>
                <a:latin typeface="ITC Avant Garde Gothic"/>
                <a:ea typeface="ITC Avant Garde Gothic"/>
                <a:cs typeface="ITC Avant Garde Gothic"/>
                <a:sym typeface="ITC Avant Garde Gothic"/>
              </a:rPr>
              <a:t>OVERVIEW OF OUR DATA SET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FD8DC"/>
        </a:solidFill>
        <a:effectLst/>
      </p:bgPr>
    </p:bg>
    <p:spTree>
      <p:nvGrpSpPr>
        <p:cNvPr id="1" name=""/>
        <p:cNvGrpSpPr/>
        <p:nvPr/>
      </p:nvGrpSpPr>
      <p:grpSpPr>
        <a:xfrm>
          <a:off x="0" y="0"/>
          <a:ext cx="0" cy="0"/>
          <a:chOff x="0" y="0"/>
          <a:chExt cx="0" cy="0"/>
        </a:xfrm>
      </p:grpSpPr>
      <p:sp>
        <p:nvSpPr>
          <p:cNvPr id="2" name="TextBox 2"/>
          <p:cNvSpPr txBox="1"/>
          <p:nvPr/>
        </p:nvSpPr>
        <p:spPr>
          <a:xfrm>
            <a:off x="893364" y="849516"/>
            <a:ext cx="16501271" cy="3274063"/>
          </a:xfrm>
          <a:prstGeom prst="rect">
            <a:avLst/>
          </a:prstGeom>
        </p:spPr>
        <p:txBody>
          <a:bodyPr lIns="0" tIns="0" rIns="0" bIns="0" rtlCol="0" anchor="t">
            <a:spAutoFit/>
          </a:bodyPr>
          <a:lstStyle/>
          <a:p>
            <a:pPr marL="0" lvl="0" indent="0" algn="l">
              <a:lnSpc>
                <a:spcPts val="11785"/>
              </a:lnSpc>
              <a:spcBef>
                <a:spcPct val="0"/>
              </a:spcBef>
            </a:pPr>
            <a:r>
              <a:rPr lang="en-US" sz="11785" u="none" strike="noStrike" spc="-353">
                <a:solidFill>
                  <a:srgbClr val="000000"/>
                </a:solidFill>
                <a:latin typeface="ITC Avant Garde Gothic"/>
                <a:ea typeface="ITC Avant Garde Gothic"/>
                <a:cs typeface="ITC Avant Garde Gothic"/>
                <a:sym typeface="ITC Avant Garde Gothic"/>
              </a:rPr>
              <a:t>Presentation Agenda Overview</a:t>
            </a:r>
          </a:p>
        </p:txBody>
      </p:sp>
      <p:sp>
        <p:nvSpPr>
          <p:cNvPr id="3" name="TextBox 3"/>
          <p:cNvSpPr txBox="1"/>
          <p:nvPr/>
        </p:nvSpPr>
        <p:spPr>
          <a:xfrm>
            <a:off x="893364" y="6335798"/>
            <a:ext cx="14382486" cy="1899866"/>
          </a:xfrm>
          <a:prstGeom prst="rect">
            <a:avLst/>
          </a:prstGeom>
        </p:spPr>
        <p:txBody>
          <a:bodyPr lIns="0" tIns="0" rIns="0" bIns="0" rtlCol="0" anchor="t">
            <a:spAutoFit/>
          </a:bodyPr>
          <a:lstStyle/>
          <a:p>
            <a:pPr marL="0" lvl="0" indent="0" algn="l">
              <a:lnSpc>
                <a:spcPts val="5079"/>
              </a:lnSpc>
            </a:pPr>
            <a:r>
              <a:rPr lang="en-US" sz="3628">
                <a:solidFill>
                  <a:srgbClr val="000000"/>
                </a:solidFill>
                <a:latin typeface="TT Fors"/>
                <a:ea typeface="TT Fors"/>
                <a:cs typeface="TT Fors"/>
                <a:sym typeface="TT Fors"/>
              </a:rPr>
              <a:t>This section outlines the key topics to be discussed: the </a:t>
            </a:r>
            <a:r>
              <a:rPr lang="en-US" sz="3628" b="1">
                <a:solidFill>
                  <a:srgbClr val="000000"/>
                </a:solidFill>
                <a:latin typeface="TT Fors Bold"/>
                <a:ea typeface="TT Fors Bold"/>
                <a:cs typeface="TT Fors Bold"/>
                <a:sym typeface="TT Fors Bold"/>
              </a:rPr>
              <a:t>underlying causes</a:t>
            </a:r>
            <a:r>
              <a:rPr lang="en-US" sz="3628">
                <a:solidFill>
                  <a:srgbClr val="000000"/>
                </a:solidFill>
                <a:latin typeface="TT Fors"/>
                <a:ea typeface="TT Fors"/>
                <a:cs typeface="TT Fors"/>
                <a:sym typeface="TT Fors"/>
              </a:rPr>
              <a:t> of bank churn, its significant impacts on financial performance, and effective strategies to reduce customer attrition.</a:t>
            </a:r>
          </a:p>
        </p:txBody>
      </p:sp>
      <p:sp>
        <p:nvSpPr>
          <p:cNvPr id="4" name="TextBox 4"/>
          <p:cNvSpPr txBox="1"/>
          <p:nvPr/>
        </p:nvSpPr>
        <p:spPr>
          <a:xfrm>
            <a:off x="893364" y="4806453"/>
            <a:ext cx="14382486" cy="715616"/>
          </a:xfrm>
          <a:prstGeom prst="rect">
            <a:avLst/>
          </a:prstGeom>
        </p:spPr>
        <p:txBody>
          <a:bodyPr lIns="0" tIns="0" rIns="0" bIns="0" rtlCol="0" anchor="t">
            <a:spAutoFit/>
          </a:bodyPr>
          <a:lstStyle/>
          <a:p>
            <a:pPr marL="0" lvl="0" indent="0" algn="l">
              <a:lnSpc>
                <a:spcPts val="5656"/>
              </a:lnSpc>
              <a:spcBef>
                <a:spcPct val="0"/>
              </a:spcBef>
            </a:pPr>
            <a:r>
              <a:rPr lang="en-US" sz="4714" u="none" strike="noStrike" spc="-141">
                <a:solidFill>
                  <a:srgbClr val="000000"/>
                </a:solidFill>
                <a:latin typeface="TT Fors"/>
                <a:ea typeface="TT Fors"/>
                <a:cs typeface="TT Fors"/>
                <a:sym typeface="TT Fors"/>
              </a:rPr>
              <a:t>Causes, Impacts, Strategies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FD8DC"/>
        </a:solidFill>
        <a:effectLst/>
      </p:bgPr>
    </p:bg>
    <p:spTree>
      <p:nvGrpSpPr>
        <p:cNvPr id="1" name="">
          <a:extLst>
            <a:ext uri="{FF2B5EF4-FFF2-40B4-BE49-F238E27FC236}">
              <a16:creationId xmlns:a16="http://schemas.microsoft.com/office/drawing/2014/main" id="{919CEF8C-4263-E3BD-1CEC-7071E1F681E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CF64980-99F6-3F6C-BB95-4EA66D100648}"/>
              </a:ext>
            </a:extLst>
          </p:cNvPr>
          <p:cNvSpPr txBox="1"/>
          <p:nvPr/>
        </p:nvSpPr>
        <p:spPr>
          <a:xfrm>
            <a:off x="893364" y="849516"/>
            <a:ext cx="16501271" cy="1527854"/>
          </a:xfrm>
          <a:prstGeom prst="rect">
            <a:avLst/>
          </a:prstGeom>
        </p:spPr>
        <p:txBody>
          <a:bodyPr lIns="0" tIns="0" rIns="0" bIns="0" rtlCol="0" anchor="t">
            <a:spAutoFit/>
          </a:bodyPr>
          <a:lstStyle/>
          <a:p>
            <a:pPr marL="0" lvl="0" indent="0" algn="l">
              <a:lnSpc>
                <a:spcPts val="11785"/>
              </a:lnSpc>
              <a:spcBef>
                <a:spcPct val="0"/>
              </a:spcBef>
            </a:pPr>
            <a:r>
              <a:rPr lang="en-US" sz="11785" u="none" strike="noStrike" spc="-353" dirty="0">
                <a:solidFill>
                  <a:srgbClr val="000000"/>
                </a:solidFill>
                <a:latin typeface="ITC Avant Garde Gothic"/>
                <a:ea typeface="ITC Avant Garde Gothic"/>
                <a:cs typeface="ITC Avant Garde Gothic"/>
                <a:sym typeface="ITC Avant Garde Gothic"/>
              </a:rPr>
              <a:t>Insights Overview</a:t>
            </a:r>
          </a:p>
        </p:txBody>
      </p:sp>
      <p:pic>
        <p:nvPicPr>
          <p:cNvPr id="6" name="Picture 5">
            <a:extLst>
              <a:ext uri="{FF2B5EF4-FFF2-40B4-BE49-F238E27FC236}">
                <a16:creationId xmlns:a16="http://schemas.microsoft.com/office/drawing/2014/main" id="{14D6A8AD-D5E7-6B24-AD42-BFD376D9F8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2377369"/>
            <a:ext cx="17678399" cy="1477877"/>
          </a:xfrm>
          <a:prstGeom prst="rect">
            <a:avLst/>
          </a:prstGeom>
        </p:spPr>
      </p:pic>
      <p:sp>
        <p:nvSpPr>
          <p:cNvPr id="7" name="TextBox 6">
            <a:extLst>
              <a:ext uri="{FF2B5EF4-FFF2-40B4-BE49-F238E27FC236}">
                <a16:creationId xmlns:a16="http://schemas.microsoft.com/office/drawing/2014/main" id="{32169C56-9B86-B1CE-A05E-0CB25EA8721A}"/>
              </a:ext>
            </a:extLst>
          </p:cNvPr>
          <p:cNvSpPr txBox="1"/>
          <p:nvPr/>
        </p:nvSpPr>
        <p:spPr>
          <a:xfrm>
            <a:off x="609600" y="4457700"/>
            <a:ext cx="17449800" cy="531959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4400" dirty="0">
                <a:latin typeface="TT Fors "/>
              </a:rPr>
              <a:t>There are total 10000 customers in our bank</a:t>
            </a:r>
          </a:p>
          <a:p>
            <a:pPr marL="285750" indent="-285750">
              <a:lnSpc>
                <a:spcPct val="200000"/>
              </a:lnSpc>
              <a:buFont typeface="Arial" panose="020B0604020202020204" pitchFamily="34" charset="0"/>
              <a:buChar char="•"/>
            </a:pPr>
            <a:r>
              <a:rPr lang="en-US" sz="4400" dirty="0">
                <a:latin typeface="TT Fors "/>
              </a:rPr>
              <a:t>In our bank 54.6% of customers are male and 45.4% are female</a:t>
            </a:r>
          </a:p>
          <a:p>
            <a:pPr marL="285750" indent="-285750">
              <a:lnSpc>
                <a:spcPct val="200000"/>
              </a:lnSpc>
              <a:buFont typeface="Arial" panose="020B0604020202020204" pitchFamily="34" charset="0"/>
              <a:buChar char="•"/>
            </a:pPr>
            <a:r>
              <a:rPr lang="en-US" sz="4400" dirty="0">
                <a:latin typeface="TT Fors "/>
              </a:rPr>
              <a:t>Customers of our bank are from France , Germany, Spain</a:t>
            </a:r>
          </a:p>
          <a:p>
            <a:pPr marL="285750" indent="-285750">
              <a:lnSpc>
                <a:spcPct val="200000"/>
              </a:lnSpc>
              <a:buFont typeface="Arial" panose="020B0604020202020204" pitchFamily="34" charset="0"/>
              <a:buChar char="•"/>
            </a:pPr>
            <a:r>
              <a:rPr lang="en-US" sz="4400" dirty="0">
                <a:latin typeface="TT Fors "/>
              </a:rPr>
              <a:t>Overall, 20.38% of total customers have left our bank services</a:t>
            </a:r>
          </a:p>
        </p:txBody>
      </p:sp>
    </p:spTree>
    <p:extLst>
      <p:ext uri="{BB962C8B-B14F-4D97-AF65-F5344CB8AC3E}">
        <p14:creationId xmlns:p14="http://schemas.microsoft.com/office/powerpoint/2010/main" val="17985272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FD8DC"/>
        </a:solidFill>
        <a:effectLst/>
      </p:bgPr>
    </p:bg>
    <p:spTree>
      <p:nvGrpSpPr>
        <p:cNvPr id="1" name=""/>
        <p:cNvGrpSpPr/>
        <p:nvPr/>
      </p:nvGrpSpPr>
      <p:grpSpPr>
        <a:xfrm>
          <a:off x="0" y="0"/>
          <a:ext cx="0" cy="0"/>
          <a:chOff x="0" y="0"/>
          <a:chExt cx="0" cy="0"/>
        </a:xfrm>
      </p:grpSpPr>
      <p:sp>
        <p:nvSpPr>
          <p:cNvPr id="2" name="Freeform 2"/>
          <p:cNvSpPr/>
          <p:nvPr/>
        </p:nvSpPr>
        <p:spPr>
          <a:xfrm>
            <a:off x="6522795" y="4700419"/>
            <a:ext cx="4865957" cy="2801612"/>
          </a:xfrm>
          <a:custGeom>
            <a:avLst/>
            <a:gdLst/>
            <a:ahLst/>
            <a:cxnLst/>
            <a:rect l="l" t="t" r="r" b="b"/>
            <a:pathLst>
              <a:path w="4865957" h="2801612">
                <a:moveTo>
                  <a:pt x="0" y="0"/>
                </a:moveTo>
                <a:lnTo>
                  <a:pt x="4865957" y="0"/>
                </a:lnTo>
                <a:lnTo>
                  <a:pt x="4865957" y="2801612"/>
                </a:lnTo>
                <a:lnTo>
                  <a:pt x="0" y="2801612"/>
                </a:lnTo>
                <a:lnTo>
                  <a:pt x="0" y="0"/>
                </a:lnTo>
                <a:close/>
              </a:path>
            </a:pathLst>
          </a:custGeom>
          <a:blipFill>
            <a:blip r:embed="rId2"/>
            <a:stretch>
              <a:fillRect/>
            </a:stretch>
          </a:blipFill>
        </p:spPr>
      </p:sp>
      <p:sp>
        <p:nvSpPr>
          <p:cNvPr id="3" name="Freeform 3"/>
          <p:cNvSpPr/>
          <p:nvPr/>
        </p:nvSpPr>
        <p:spPr>
          <a:xfrm>
            <a:off x="12513130" y="4652247"/>
            <a:ext cx="4746170" cy="2858387"/>
          </a:xfrm>
          <a:custGeom>
            <a:avLst/>
            <a:gdLst/>
            <a:ahLst/>
            <a:cxnLst/>
            <a:rect l="l" t="t" r="r" b="b"/>
            <a:pathLst>
              <a:path w="4746170" h="2858387">
                <a:moveTo>
                  <a:pt x="0" y="0"/>
                </a:moveTo>
                <a:lnTo>
                  <a:pt x="4746170" y="0"/>
                </a:lnTo>
                <a:lnTo>
                  <a:pt x="4746170" y="2858388"/>
                </a:lnTo>
                <a:lnTo>
                  <a:pt x="0" y="2858388"/>
                </a:lnTo>
                <a:lnTo>
                  <a:pt x="0" y="0"/>
                </a:lnTo>
                <a:close/>
              </a:path>
            </a:pathLst>
          </a:custGeom>
          <a:blipFill>
            <a:blip r:embed="rId3"/>
            <a:stretch>
              <a:fillRect/>
            </a:stretch>
          </a:blipFill>
        </p:spPr>
      </p:sp>
      <p:sp>
        <p:nvSpPr>
          <p:cNvPr id="4" name="TextBox 4"/>
          <p:cNvSpPr txBox="1"/>
          <p:nvPr/>
        </p:nvSpPr>
        <p:spPr>
          <a:xfrm>
            <a:off x="764476" y="7168877"/>
            <a:ext cx="5248697" cy="2483309"/>
          </a:xfrm>
          <a:prstGeom prst="rect">
            <a:avLst/>
          </a:prstGeom>
        </p:spPr>
        <p:txBody>
          <a:bodyPr lIns="0" tIns="0" rIns="0" bIns="0" rtlCol="0" anchor="t">
            <a:spAutoFit/>
          </a:bodyPr>
          <a:lstStyle/>
          <a:p>
            <a:pPr marL="0" lvl="0" indent="0" algn="l">
              <a:lnSpc>
                <a:spcPts val="3919"/>
              </a:lnSpc>
            </a:pPr>
            <a:r>
              <a:rPr lang="en-US" sz="2799" dirty="0">
                <a:solidFill>
                  <a:srgbClr val="000000"/>
                </a:solidFill>
                <a:latin typeface="TT Fors"/>
                <a:ea typeface="TT Fors"/>
                <a:cs typeface="TT Fors"/>
                <a:sym typeface="TT Fors"/>
              </a:rPr>
              <a:t>Many customers leave due to </a:t>
            </a:r>
            <a:r>
              <a:rPr lang="en-US" sz="2799" b="1" dirty="0">
                <a:solidFill>
                  <a:srgbClr val="000000"/>
                </a:solidFill>
                <a:latin typeface="TT Fors Bold"/>
                <a:ea typeface="TT Fors Bold"/>
                <a:cs typeface="TT Fors Bold"/>
                <a:sym typeface="TT Fors Bold"/>
              </a:rPr>
              <a:t>poor service experiences. In</a:t>
            </a:r>
            <a:r>
              <a:rPr lang="en-US" sz="2799" dirty="0">
                <a:solidFill>
                  <a:srgbClr val="000000"/>
                </a:solidFill>
                <a:latin typeface="TT Fors"/>
                <a:ea typeface="TT Fors"/>
                <a:cs typeface="TT Fors"/>
                <a:sym typeface="TT Fors"/>
              </a:rPr>
              <a:t> our data 22% are not satisfied ,and only 39% of total customer feel satisfied with our services</a:t>
            </a:r>
          </a:p>
        </p:txBody>
      </p:sp>
      <p:sp>
        <p:nvSpPr>
          <p:cNvPr id="5" name="TextBox 5"/>
          <p:cNvSpPr txBox="1"/>
          <p:nvPr/>
        </p:nvSpPr>
        <p:spPr>
          <a:xfrm>
            <a:off x="1167070" y="3660334"/>
            <a:ext cx="4010025" cy="495935"/>
          </a:xfrm>
          <a:prstGeom prst="rect">
            <a:avLst/>
          </a:prstGeom>
        </p:spPr>
        <p:txBody>
          <a:bodyPr lIns="0" tIns="0" rIns="0" bIns="0" rtlCol="0" anchor="t">
            <a:spAutoFit/>
          </a:bodyPr>
          <a:lstStyle/>
          <a:p>
            <a:pPr marL="0" lvl="0" indent="0" algn="l">
              <a:lnSpc>
                <a:spcPts val="3640"/>
              </a:lnSpc>
              <a:spcBef>
                <a:spcPct val="0"/>
              </a:spcBef>
            </a:pPr>
            <a:r>
              <a:rPr lang="en-US" sz="2600" b="1" u="none" strike="noStrike" spc="-78" dirty="0">
                <a:solidFill>
                  <a:srgbClr val="000000"/>
                </a:solidFill>
                <a:latin typeface="ITC Avant Garde Gothic Bold"/>
                <a:ea typeface="ITC Avant Garde Gothic Bold"/>
                <a:cs typeface="ITC Avant Garde Gothic Bold"/>
                <a:sym typeface="ITC Avant Garde Gothic Bold"/>
              </a:rPr>
              <a:t>Service Dissatisfaction</a:t>
            </a:r>
          </a:p>
        </p:txBody>
      </p:sp>
      <p:sp>
        <p:nvSpPr>
          <p:cNvPr id="6" name="TextBox 6"/>
          <p:cNvSpPr txBox="1"/>
          <p:nvPr/>
        </p:nvSpPr>
        <p:spPr>
          <a:xfrm>
            <a:off x="6570446" y="7510634"/>
            <a:ext cx="5380495" cy="2508897"/>
          </a:xfrm>
          <a:prstGeom prst="rect">
            <a:avLst/>
          </a:prstGeom>
        </p:spPr>
        <p:txBody>
          <a:bodyPr lIns="0" tIns="0" rIns="0" bIns="0" rtlCol="0" anchor="t">
            <a:spAutoFit/>
          </a:bodyPr>
          <a:lstStyle/>
          <a:p>
            <a:pPr marL="0" lvl="0" indent="0" algn="l">
              <a:lnSpc>
                <a:spcPts val="3989"/>
              </a:lnSpc>
            </a:pPr>
            <a:r>
              <a:rPr lang="en-US" sz="2849" dirty="0">
                <a:solidFill>
                  <a:srgbClr val="000000"/>
                </a:solidFill>
                <a:latin typeface="TT Fors"/>
                <a:ea typeface="TT Fors"/>
                <a:cs typeface="TT Fors"/>
                <a:sym typeface="TT Fors"/>
              </a:rPr>
              <a:t>It is evident that our bank's </a:t>
            </a:r>
            <a:r>
              <a:rPr lang="en-US" sz="2849" b="1" dirty="0">
                <a:solidFill>
                  <a:srgbClr val="000000"/>
                </a:solidFill>
                <a:latin typeface="TT Fors Bold"/>
                <a:ea typeface="TT Fors Bold"/>
                <a:cs typeface="TT Fors Bold"/>
                <a:sym typeface="TT Fors Bold"/>
              </a:rPr>
              <a:t>Diamond </a:t>
            </a:r>
            <a:r>
              <a:rPr lang="en-US" sz="2849" dirty="0">
                <a:solidFill>
                  <a:srgbClr val="000000"/>
                </a:solidFill>
                <a:latin typeface="TT Fors"/>
                <a:ea typeface="TT Fors"/>
                <a:cs typeface="TT Fors"/>
                <a:sym typeface="TT Fors"/>
              </a:rPr>
              <a:t>and </a:t>
            </a:r>
            <a:r>
              <a:rPr lang="en-US" sz="2849" b="1" dirty="0">
                <a:solidFill>
                  <a:srgbClr val="000000"/>
                </a:solidFill>
                <a:latin typeface="TT Fors Bold"/>
                <a:ea typeface="TT Fors Bold"/>
                <a:cs typeface="TT Fors Bold"/>
                <a:sym typeface="TT Fors Bold"/>
              </a:rPr>
              <a:t>Platinum </a:t>
            </a:r>
            <a:r>
              <a:rPr lang="en-US" sz="2849" dirty="0">
                <a:solidFill>
                  <a:srgbClr val="000000"/>
                </a:solidFill>
                <a:latin typeface="TT Fors"/>
                <a:ea typeface="TT Fors"/>
                <a:cs typeface="TT Fors"/>
                <a:sym typeface="TT Fors"/>
              </a:rPr>
              <a:t>cardholders have left our company in the greatest numbers.</a:t>
            </a:r>
          </a:p>
        </p:txBody>
      </p:sp>
      <p:sp>
        <p:nvSpPr>
          <p:cNvPr id="7" name="TextBox 7"/>
          <p:cNvSpPr txBox="1"/>
          <p:nvPr/>
        </p:nvSpPr>
        <p:spPr>
          <a:xfrm>
            <a:off x="6559666" y="3568647"/>
            <a:ext cx="4010025" cy="953135"/>
          </a:xfrm>
          <a:prstGeom prst="rect">
            <a:avLst/>
          </a:prstGeom>
        </p:spPr>
        <p:txBody>
          <a:bodyPr lIns="0" tIns="0" rIns="0" bIns="0" rtlCol="0" anchor="t">
            <a:spAutoFit/>
          </a:bodyPr>
          <a:lstStyle/>
          <a:p>
            <a:pPr marL="0" lvl="0" indent="0" algn="l">
              <a:lnSpc>
                <a:spcPts val="3640"/>
              </a:lnSpc>
              <a:spcBef>
                <a:spcPct val="0"/>
              </a:spcBef>
            </a:pPr>
            <a:r>
              <a:rPr lang="en-US" sz="2600" b="1" spc="-78" dirty="0">
                <a:solidFill>
                  <a:srgbClr val="000000"/>
                </a:solidFill>
                <a:latin typeface="ITC Avant Garde Gothic Bold"/>
                <a:ea typeface="ITC Avant Garde Gothic Bold"/>
                <a:cs typeface="ITC Avant Garde Gothic Bold"/>
                <a:sym typeface="ITC Avant Garde Gothic Bold"/>
              </a:rPr>
              <a:t>Failing to Meet Cardholder Standards</a:t>
            </a:r>
          </a:p>
        </p:txBody>
      </p:sp>
      <p:sp>
        <p:nvSpPr>
          <p:cNvPr id="8" name="TextBox 8"/>
          <p:cNvSpPr txBox="1"/>
          <p:nvPr/>
        </p:nvSpPr>
        <p:spPr>
          <a:xfrm>
            <a:off x="12634294" y="3579121"/>
            <a:ext cx="4010025" cy="953135"/>
          </a:xfrm>
          <a:prstGeom prst="rect">
            <a:avLst/>
          </a:prstGeom>
        </p:spPr>
        <p:txBody>
          <a:bodyPr lIns="0" tIns="0" rIns="0" bIns="0" rtlCol="0" anchor="t">
            <a:spAutoFit/>
          </a:bodyPr>
          <a:lstStyle/>
          <a:p>
            <a:pPr marL="0" lvl="0" indent="0" algn="l">
              <a:lnSpc>
                <a:spcPts val="3640"/>
              </a:lnSpc>
              <a:spcBef>
                <a:spcPct val="0"/>
              </a:spcBef>
            </a:pPr>
            <a:r>
              <a:rPr lang="en-US" sz="2600" b="1" spc="-78" dirty="0">
                <a:solidFill>
                  <a:srgbClr val="000000"/>
                </a:solidFill>
                <a:latin typeface="ITC Avant Garde Gothic Bold"/>
                <a:ea typeface="ITC Avant Garde Gothic Bold"/>
                <a:cs typeface="ITC Avant Garde Gothic Bold"/>
                <a:sym typeface="ITC Avant Garde Gothic Bold"/>
              </a:rPr>
              <a:t>70% </a:t>
            </a:r>
            <a:r>
              <a:rPr lang="en-US" sz="2600" b="1" u="none" strike="noStrike" spc="-78" dirty="0">
                <a:solidFill>
                  <a:srgbClr val="000000"/>
                </a:solidFill>
                <a:latin typeface="ITC Avant Garde Gothic Bold"/>
                <a:ea typeface="ITC Avant Garde Gothic Bold"/>
                <a:cs typeface="ITC Avant Garde Gothic Bold"/>
                <a:sym typeface="ITC Avant Garde Gothic Bold"/>
              </a:rPr>
              <a:t>of credit card holders left</a:t>
            </a:r>
          </a:p>
        </p:txBody>
      </p:sp>
      <p:grpSp>
        <p:nvGrpSpPr>
          <p:cNvPr id="9" name="Group 9"/>
          <p:cNvGrpSpPr/>
          <p:nvPr/>
        </p:nvGrpSpPr>
        <p:grpSpPr>
          <a:xfrm>
            <a:off x="666750" y="659606"/>
            <a:ext cx="13972557" cy="1986295"/>
            <a:chOff x="0" y="-9525"/>
            <a:chExt cx="18630076" cy="2648393"/>
          </a:xfrm>
        </p:grpSpPr>
        <p:sp>
          <p:nvSpPr>
            <p:cNvPr id="10" name="TextBox 10"/>
            <p:cNvSpPr txBox="1"/>
            <p:nvPr/>
          </p:nvSpPr>
          <p:spPr>
            <a:xfrm>
              <a:off x="0" y="-9525"/>
              <a:ext cx="18630076" cy="2026728"/>
            </a:xfrm>
            <a:prstGeom prst="rect">
              <a:avLst/>
            </a:prstGeom>
          </p:spPr>
          <p:txBody>
            <a:bodyPr lIns="0" tIns="0" rIns="0" bIns="0" rtlCol="0" anchor="t">
              <a:spAutoFit/>
            </a:bodyPr>
            <a:lstStyle/>
            <a:p>
              <a:pPr marL="0" lvl="0" indent="0" algn="l">
                <a:lnSpc>
                  <a:spcPts val="9979"/>
                </a:lnSpc>
                <a:spcBef>
                  <a:spcPct val="0"/>
                </a:spcBef>
              </a:pPr>
              <a:r>
                <a:rPr lang="en-US" sz="9979" u="none" strike="noStrike" spc="-299">
                  <a:solidFill>
                    <a:srgbClr val="000000"/>
                  </a:solidFill>
                  <a:latin typeface="ITC Avant Garde Gothic"/>
                  <a:ea typeface="ITC Avant Garde Gothic"/>
                  <a:cs typeface="ITC Avant Garde Gothic"/>
                  <a:sym typeface="ITC Avant Garde Gothic"/>
                </a:rPr>
                <a:t>Churn Drivers</a:t>
              </a:r>
            </a:p>
          </p:txBody>
        </p:sp>
        <p:sp>
          <p:nvSpPr>
            <p:cNvPr id="11" name="TextBox 11"/>
            <p:cNvSpPr txBox="1"/>
            <p:nvPr/>
          </p:nvSpPr>
          <p:spPr>
            <a:xfrm>
              <a:off x="6555" y="1830931"/>
              <a:ext cx="16744891" cy="807937"/>
            </a:xfrm>
            <a:prstGeom prst="rect">
              <a:avLst/>
            </a:prstGeom>
          </p:spPr>
          <p:txBody>
            <a:bodyPr lIns="0" tIns="0" rIns="0" bIns="0" rtlCol="0" anchor="t">
              <a:spAutoFit/>
            </a:bodyPr>
            <a:lstStyle/>
            <a:p>
              <a:pPr marL="0" lvl="0" indent="0" algn="l">
                <a:lnSpc>
                  <a:spcPts val="4789"/>
                </a:lnSpc>
              </a:pPr>
              <a:r>
                <a:rPr lang="en-US" sz="3991" u="none" strike="noStrike" spc="-119" dirty="0">
                  <a:solidFill>
                    <a:srgbClr val="000000"/>
                  </a:solidFill>
                  <a:latin typeface="TT Fors"/>
                  <a:ea typeface="TT Fors"/>
                  <a:cs typeface="TT Fors"/>
                  <a:sym typeface="TT Fors"/>
                </a:rPr>
                <a:t>Key Factors Behind Attrition</a:t>
              </a:r>
            </a:p>
          </p:txBody>
        </p:sp>
      </p:grpSp>
      <p:sp>
        <p:nvSpPr>
          <p:cNvPr id="12" name="TextBox 12"/>
          <p:cNvSpPr txBox="1"/>
          <p:nvPr/>
        </p:nvSpPr>
        <p:spPr>
          <a:xfrm>
            <a:off x="12268200" y="7641099"/>
            <a:ext cx="5696190" cy="2013387"/>
          </a:xfrm>
          <a:prstGeom prst="rect">
            <a:avLst/>
          </a:prstGeom>
        </p:spPr>
        <p:txBody>
          <a:bodyPr lIns="0" tIns="0" rIns="0" bIns="0" rtlCol="0" anchor="t">
            <a:spAutoFit/>
          </a:bodyPr>
          <a:lstStyle/>
          <a:p>
            <a:pPr algn="l">
              <a:lnSpc>
                <a:spcPts val="4000"/>
              </a:lnSpc>
              <a:spcBef>
                <a:spcPct val="0"/>
              </a:spcBef>
            </a:pPr>
            <a:r>
              <a:rPr lang="en-US" sz="2857" spc="-85" dirty="0">
                <a:solidFill>
                  <a:srgbClr val="000000"/>
                </a:solidFill>
                <a:latin typeface="TT Fors"/>
                <a:ea typeface="TT Fors"/>
                <a:cs typeface="TT Fors"/>
                <a:sym typeface="TT Fors"/>
              </a:rPr>
              <a:t>Our data indicates that the </a:t>
            </a:r>
            <a:r>
              <a:rPr lang="en-US" sz="2857" b="1" spc="-85" dirty="0">
                <a:solidFill>
                  <a:srgbClr val="000000"/>
                </a:solidFill>
                <a:latin typeface="TT Fors Bold"/>
                <a:ea typeface="TT Fors Bold"/>
                <a:cs typeface="TT Fors Bold"/>
                <a:sym typeface="TT Fors Bold"/>
              </a:rPr>
              <a:t>majority of our credit card holders (70%)</a:t>
            </a:r>
            <a:r>
              <a:rPr lang="en-US" sz="2857" spc="-85" dirty="0">
                <a:solidFill>
                  <a:srgbClr val="000000"/>
                </a:solidFill>
                <a:latin typeface="TT Fors"/>
                <a:ea typeface="TT Fors"/>
                <a:cs typeface="TT Fors"/>
                <a:sym typeface="TT Fors"/>
              </a:rPr>
              <a:t> have departed from our banking services.</a:t>
            </a:r>
          </a:p>
        </p:txBody>
      </p:sp>
      <p:sp>
        <p:nvSpPr>
          <p:cNvPr id="13" name="Freeform 13"/>
          <p:cNvSpPr/>
          <p:nvPr/>
        </p:nvSpPr>
        <p:spPr>
          <a:xfrm>
            <a:off x="827525" y="4046443"/>
            <a:ext cx="4349570" cy="3250151"/>
          </a:xfrm>
          <a:custGeom>
            <a:avLst/>
            <a:gdLst/>
            <a:ahLst/>
            <a:cxnLst/>
            <a:rect l="l" t="t" r="r" b="b"/>
            <a:pathLst>
              <a:path w="4349570" h="3250151">
                <a:moveTo>
                  <a:pt x="0" y="0"/>
                </a:moveTo>
                <a:lnTo>
                  <a:pt x="4349570" y="0"/>
                </a:lnTo>
                <a:lnTo>
                  <a:pt x="4349570" y="3250150"/>
                </a:lnTo>
                <a:lnTo>
                  <a:pt x="0" y="3250150"/>
                </a:lnTo>
                <a:lnTo>
                  <a:pt x="0" y="0"/>
                </a:lnTo>
                <a:close/>
              </a:path>
            </a:pathLst>
          </a:custGeom>
          <a:blipFill>
            <a:blip r:embed="rId4"/>
            <a:stretch>
              <a:fillRect r="-4189"/>
            </a:stretch>
          </a:blipFill>
        </p:spPr>
      </p:sp>
      <p:pic>
        <p:nvPicPr>
          <p:cNvPr id="15" name="Picture 14">
            <a:extLst>
              <a:ext uri="{FF2B5EF4-FFF2-40B4-BE49-F238E27FC236}">
                <a16:creationId xmlns:a16="http://schemas.microsoft.com/office/drawing/2014/main" id="{AA63E082-DEDD-EFAC-9809-07645ECCEC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93881" y="691112"/>
            <a:ext cx="3350880" cy="1408778"/>
          </a:xfrm>
          <a:prstGeom prst="rect">
            <a:avLst/>
          </a:prstGeom>
        </p:spPr>
      </p:pic>
      <p:sp>
        <p:nvSpPr>
          <p:cNvPr id="17" name="TextBox 16">
            <a:extLst>
              <a:ext uri="{FF2B5EF4-FFF2-40B4-BE49-F238E27FC236}">
                <a16:creationId xmlns:a16="http://schemas.microsoft.com/office/drawing/2014/main" id="{F622665B-ED63-3E9A-C183-505E788FCCA4}"/>
              </a:ext>
            </a:extLst>
          </p:cNvPr>
          <p:cNvSpPr txBox="1"/>
          <p:nvPr/>
        </p:nvSpPr>
        <p:spPr>
          <a:xfrm>
            <a:off x="12406192" y="2088829"/>
            <a:ext cx="5424608" cy="954107"/>
          </a:xfrm>
          <a:prstGeom prst="rect">
            <a:avLst/>
          </a:prstGeom>
          <a:noFill/>
        </p:spPr>
        <p:txBody>
          <a:bodyPr wrap="square" rtlCol="0">
            <a:spAutoFit/>
          </a:bodyPr>
          <a:lstStyle/>
          <a:p>
            <a:r>
              <a:rPr lang="en-US" sz="2800" dirty="0">
                <a:latin typeface="TT Fors "/>
              </a:rPr>
              <a:t>Overall </a:t>
            </a:r>
            <a:r>
              <a:rPr lang="en-US" sz="2800" b="1" dirty="0">
                <a:latin typeface="TT Fors Bold" panose="020B0604020202020204" charset="0"/>
              </a:rPr>
              <a:t>female</a:t>
            </a:r>
            <a:r>
              <a:rPr lang="en-US" sz="2800" dirty="0">
                <a:latin typeface="TT Fors "/>
              </a:rPr>
              <a:t> show higher attrition than </a:t>
            </a:r>
            <a:r>
              <a:rPr lang="en-US" sz="2800" b="1" dirty="0">
                <a:latin typeface="TT Fors Bold" panose="020B0604020202020204" charset="0"/>
              </a:rPr>
              <a:t>male</a:t>
            </a:r>
            <a:endParaRPr lang="en-IN" sz="2800" b="1" dirty="0">
              <a:latin typeface="TT Fors Bold" panose="020B0604020202020204" charset="0"/>
            </a:endParaRPr>
          </a:p>
        </p:txBody>
      </p:sp>
      <p:sp>
        <p:nvSpPr>
          <p:cNvPr id="18" name="TextBox 17">
            <a:extLst>
              <a:ext uri="{FF2B5EF4-FFF2-40B4-BE49-F238E27FC236}">
                <a16:creationId xmlns:a16="http://schemas.microsoft.com/office/drawing/2014/main" id="{ED690C6A-4E24-774F-6D07-5F683BE62BDB}"/>
              </a:ext>
            </a:extLst>
          </p:cNvPr>
          <p:cNvSpPr txBox="1"/>
          <p:nvPr/>
        </p:nvSpPr>
        <p:spPr>
          <a:xfrm>
            <a:off x="12284331" y="245757"/>
            <a:ext cx="6003669" cy="584775"/>
          </a:xfrm>
          <a:prstGeom prst="rect">
            <a:avLst/>
          </a:prstGeom>
          <a:noFill/>
        </p:spPr>
        <p:txBody>
          <a:bodyPr wrap="square" rtlCol="0">
            <a:spAutoFit/>
          </a:bodyPr>
          <a:lstStyle/>
          <a:p>
            <a:r>
              <a:rPr lang="en-US" sz="3200" b="1" dirty="0">
                <a:latin typeface="TT Fors Bold" panose="020B0604020202020204" charset="0"/>
              </a:rPr>
              <a:t>Gender wise contribution</a:t>
            </a:r>
            <a:endParaRPr lang="en-IN" sz="3200" b="1" dirty="0">
              <a:latin typeface="TT Fors Bold" panose="020B0604020202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FD8DC"/>
        </a:solidFill>
        <a:effectLst/>
      </p:bgPr>
    </p:bg>
    <p:spTree>
      <p:nvGrpSpPr>
        <p:cNvPr id="1" name=""/>
        <p:cNvGrpSpPr/>
        <p:nvPr/>
      </p:nvGrpSpPr>
      <p:grpSpPr>
        <a:xfrm>
          <a:off x="0" y="0"/>
          <a:ext cx="0" cy="0"/>
          <a:chOff x="0" y="0"/>
          <a:chExt cx="0" cy="0"/>
        </a:xfrm>
      </p:grpSpPr>
      <p:sp>
        <p:nvSpPr>
          <p:cNvPr id="2" name="Freeform 2"/>
          <p:cNvSpPr/>
          <p:nvPr/>
        </p:nvSpPr>
        <p:spPr>
          <a:xfrm>
            <a:off x="-23598" y="833120"/>
            <a:ext cx="5864796" cy="3834674"/>
          </a:xfrm>
          <a:custGeom>
            <a:avLst/>
            <a:gdLst/>
            <a:ahLst/>
            <a:cxnLst/>
            <a:rect l="l" t="t" r="r" b="b"/>
            <a:pathLst>
              <a:path w="5864796" h="3834674">
                <a:moveTo>
                  <a:pt x="0" y="0"/>
                </a:moveTo>
                <a:lnTo>
                  <a:pt x="5864796" y="0"/>
                </a:lnTo>
                <a:lnTo>
                  <a:pt x="5864796" y="3834674"/>
                </a:lnTo>
                <a:lnTo>
                  <a:pt x="0" y="3834674"/>
                </a:lnTo>
                <a:lnTo>
                  <a:pt x="0" y="0"/>
                </a:lnTo>
                <a:close/>
              </a:path>
            </a:pathLst>
          </a:custGeom>
          <a:blipFill>
            <a:blip r:embed="rId3"/>
            <a:stretch>
              <a:fillRect/>
            </a:stretch>
          </a:blipFill>
        </p:spPr>
      </p:sp>
      <p:sp>
        <p:nvSpPr>
          <p:cNvPr id="3" name="Freeform 3"/>
          <p:cNvSpPr/>
          <p:nvPr/>
        </p:nvSpPr>
        <p:spPr>
          <a:xfrm>
            <a:off x="6011617" y="833120"/>
            <a:ext cx="6262704" cy="3834674"/>
          </a:xfrm>
          <a:custGeom>
            <a:avLst/>
            <a:gdLst/>
            <a:ahLst/>
            <a:cxnLst/>
            <a:rect l="l" t="t" r="r" b="b"/>
            <a:pathLst>
              <a:path w="6262704" h="3834674">
                <a:moveTo>
                  <a:pt x="0" y="0"/>
                </a:moveTo>
                <a:lnTo>
                  <a:pt x="6262703" y="0"/>
                </a:lnTo>
                <a:lnTo>
                  <a:pt x="6262703" y="3834674"/>
                </a:lnTo>
                <a:lnTo>
                  <a:pt x="0" y="3834674"/>
                </a:lnTo>
                <a:lnTo>
                  <a:pt x="0" y="0"/>
                </a:lnTo>
                <a:close/>
              </a:path>
            </a:pathLst>
          </a:custGeom>
          <a:blipFill>
            <a:blip r:embed="rId4"/>
            <a:stretch>
              <a:fillRect/>
            </a:stretch>
          </a:blipFill>
        </p:spPr>
      </p:sp>
      <p:sp>
        <p:nvSpPr>
          <p:cNvPr id="4" name="Freeform 4"/>
          <p:cNvSpPr/>
          <p:nvPr/>
        </p:nvSpPr>
        <p:spPr>
          <a:xfrm>
            <a:off x="12445770" y="833120"/>
            <a:ext cx="5516273" cy="3834674"/>
          </a:xfrm>
          <a:custGeom>
            <a:avLst/>
            <a:gdLst/>
            <a:ahLst/>
            <a:cxnLst/>
            <a:rect l="l" t="t" r="r" b="b"/>
            <a:pathLst>
              <a:path w="5516273" h="3834674">
                <a:moveTo>
                  <a:pt x="0" y="0"/>
                </a:moveTo>
                <a:lnTo>
                  <a:pt x="5516274" y="0"/>
                </a:lnTo>
                <a:lnTo>
                  <a:pt x="5516274" y="3834674"/>
                </a:lnTo>
                <a:lnTo>
                  <a:pt x="0" y="3834674"/>
                </a:lnTo>
                <a:lnTo>
                  <a:pt x="0" y="0"/>
                </a:lnTo>
                <a:close/>
              </a:path>
            </a:pathLst>
          </a:custGeom>
          <a:blipFill>
            <a:blip r:embed="rId5"/>
            <a:stretch>
              <a:fillRect/>
            </a:stretch>
          </a:blipFill>
        </p:spPr>
      </p:sp>
      <p:sp>
        <p:nvSpPr>
          <p:cNvPr id="5" name="Freeform 5"/>
          <p:cNvSpPr/>
          <p:nvPr/>
        </p:nvSpPr>
        <p:spPr>
          <a:xfrm>
            <a:off x="0" y="7280906"/>
            <a:ext cx="5288776" cy="1555522"/>
          </a:xfrm>
          <a:custGeom>
            <a:avLst/>
            <a:gdLst/>
            <a:ahLst/>
            <a:cxnLst/>
            <a:rect l="l" t="t" r="r" b="b"/>
            <a:pathLst>
              <a:path w="5288776" h="1555522">
                <a:moveTo>
                  <a:pt x="0" y="0"/>
                </a:moveTo>
                <a:lnTo>
                  <a:pt x="5288776" y="0"/>
                </a:lnTo>
                <a:lnTo>
                  <a:pt x="5288776" y="1555523"/>
                </a:lnTo>
                <a:lnTo>
                  <a:pt x="0" y="1555523"/>
                </a:lnTo>
                <a:lnTo>
                  <a:pt x="0" y="0"/>
                </a:lnTo>
                <a:close/>
              </a:path>
            </a:pathLst>
          </a:custGeom>
          <a:blipFill>
            <a:blip r:embed="rId6"/>
            <a:stretch>
              <a:fillRect/>
            </a:stretch>
          </a:blipFill>
        </p:spPr>
      </p:sp>
      <p:sp>
        <p:nvSpPr>
          <p:cNvPr id="6" name="Freeform 6"/>
          <p:cNvSpPr/>
          <p:nvPr/>
        </p:nvSpPr>
        <p:spPr>
          <a:xfrm>
            <a:off x="6350003" y="7181304"/>
            <a:ext cx="4787720" cy="1704606"/>
          </a:xfrm>
          <a:custGeom>
            <a:avLst/>
            <a:gdLst/>
            <a:ahLst/>
            <a:cxnLst/>
            <a:rect l="l" t="t" r="r" b="b"/>
            <a:pathLst>
              <a:path w="4787720" h="1704606">
                <a:moveTo>
                  <a:pt x="0" y="0"/>
                </a:moveTo>
                <a:lnTo>
                  <a:pt x="4787720" y="0"/>
                </a:lnTo>
                <a:lnTo>
                  <a:pt x="4787720" y="1704606"/>
                </a:lnTo>
                <a:lnTo>
                  <a:pt x="0" y="1704606"/>
                </a:lnTo>
                <a:lnTo>
                  <a:pt x="0" y="0"/>
                </a:lnTo>
                <a:close/>
              </a:path>
            </a:pathLst>
          </a:custGeom>
          <a:blipFill>
            <a:blip r:embed="rId7"/>
            <a:stretch>
              <a:fillRect/>
            </a:stretch>
          </a:blipFill>
        </p:spPr>
      </p:sp>
      <p:sp>
        <p:nvSpPr>
          <p:cNvPr id="7" name="Freeform 7"/>
          <p:cNvSpPr/>
          <p:nvPr/>
        </p:nvSpPr>
        <p:spPr>
          <a:xfrm>
            <a:off x="11974781" y="7181304"/>
            <a:ext cx="5640935" cy="1655125"/>
          </a:xfrm>
          <a:custGeom>
            <a:avLst/>
            <a:gdLst/>
            <a:ahLst/>
            <a:cxnLst/>
            <a:rect l="l" t="t" r="r" b="b"/>
            <a:pathLst>
              <a:path w="5640935" h="1655125">
                <a:moveTo>
                  <a:pt x="0" y="0"/>
                </a:moveTo>
                <a:lnTo>
                  <a:pt x="5640935" y="0"/>
                </a:lnTo>
                <a:lnTo>
                  <a:pt x="5640935" y="1655125"/>
                </a:lnTo>
                <a:lnTo>
                  <a:pt x="0" y="1655125"/>
                </a:lnTo>
                <a:lnTo>
                  <a:pt x="0" y="0"/>
                </a:lnTo>
                <a:close/>
              </a:path>
            </a:pathLst>
          </a:custGeom>
          <a:blipFill>
            <a:blip r:embed="rId8"/>
            <a:stretch>
              <a:fillRect/>
            </a:stretch>
          </a:blipFill>
        </p:spPr>
      </p:sp>
      <p:sp>
        <p:nvSpPr>
          <p:cNvPr id="8" name="TextBox 8"/>
          <p:cNvSpPr txBox="1"/>
          <p:nvPr/>
        </p:nvSpPr>
        <p:spPr>
          <a:xfrm>
            <a:off x="-23598" y="108572"/>
            <a:ext cx="5861205" cy="446276"/>
          </a:xfrm>
          <a:prstGeom prst="rect">
            <a:avLst/>
          </a:prstGeom>
        </p:spPr>
        <p:txBody>
          <a:bodyPr wrap="square" lIns="0" tIns="0" rIns="0" bIns="0" rtlCol="0" anchor="t">
            <a:spAutoFit/>
          </a:bodyPr>
          <a:lstStyle/>
          <a:p>
            <a:pPr algn="just">
              <a:lnSpc>
                <a:spcPts val="3640"/>
              </a:lnSpc>
              <a:spcBef>
                <a:spcPct val="0"/>
              </a:spcBef>
            </a:pPr>
            <a:r>
              <a:rPr lang="en-US" sz="2600" b="1" spc="-78" dirty="0">
                <a:solidFill>
                  <a:srgbClr val="000000"/>
                </a:solidFill>
                <a:latin typeface="TT Fors Bold"/>
                <a:ea typeface="TT Fors Bold"/>
                <a:cs typeface="TT Fors Bold"/>
                <a:sym typeface="TT Fors Bold"/>
              </a:rPr>
              <a:t>Variations in Active Customers</a:t>
            </a:r>
          </a:p>
        </p:txBody>
      </p:sp>
      <p:sp>
        <p:nvSpPr>
          <p:cNvPr id="9" name="TextBox 9"/>
          <p:cNvSpPr txBox="1"/>
          <p:nvPr/>
        </p:nvSpPr>
        <p:spPr>
          <a:xfrm>
            <a:off x="0" y="4610644"/>
            <a:ext cx="5532536" cy="1967043"/>
          </a:xfrm>
          <a:prstGeom prst="rect">
            <a:avLst/>
          </a:prstGeom>
        </p:spPr>
        <p:txBody>
          <a:bodyPr lIns="0" tIns="0" rIns="0" bIns="0" rtlCol="0" anchor="t">
            <a:spAutoFit/>
          </a:bodyPr>
          <a:lstStyle/>
          <a:p>
            <a:pPr algn="l">
              <a:lnSpc>
                <a:spcPts val="3930"/>
              </a:lnSpc>
              <a:spcBef>
                <a:spcPct val="0"/>
              </a:spcBef>
            </a:pPr>
            <a:r>
              <a:rPr lang="en-US" sz="2807" spc="-84">
                <a:solidFill>
                  <a:srgbClr val="000000"/>
                </a:solidFill>
                <a:latin typeface="TT Fors"/>
                <a:ea typeface="TT Fors"/>
                <a:cs typeface="TT Fors"/>
                <a:sym typeface="TT Fors"/>
              </a:rPr>
              <a:t>In our bank, </a:t>
            </a:r>
            <a:r>
              <a:rPr lang="en-US" sz="2807" b="1" spc="-84">
                <a:solidFill>
                  <a:srgbClr val="000000"/>
                </a:solidFill>
                <a:latin typeface="TT Fors Bold"/>
                <a:ea typeface="TT Fors Bold"/>
                <a:cs typeface="TT Fors Bold"/>
                <a:sym typeface="TT Fors Bold"/>
              </a:rPr>
              <a:t>48</a:t>
            </a:r>
            <a:r>
              <a:rPr lang="en-US" sz="2807" spc="-84">
                <a:solidFill>
                  <a:srgbClr val="000000"/>
                </a:solidFill>
                <a:latin typeface="TT Fors"/>
                <a:ea typeface="TT Fors"/>
                <a:cs typeface="TT Fors"/>
                <a:sym typeface="TT Fors"/>
              </a:rPr>
              <a:t>% of the total customers are inactive. Additionally, out of those who have left, </a:t>
            </a:r>
            <a:r>
              <a:rPr lang="en-US" sz="2807" b="1" spc="-84">
                <a:solidFill>
                  <a:srgbClr val="000000"/>
                </a:solidFill>
                <a:latin typeface="TT Fors Bold"/>
                <a:ea typeface="TT Fors Bold"/>
                <a:cs typeface="TT Fors Bold"/>
                <a:sym typeface="TT Fors Bold"/>
              </a:rPr>
              <a:t>64</a:t>
            </a:r>
            <a:r>
              <a:rPr lang="en-US" sz="2807" spc="-84">
                <a:solidFill>
                  <a:srgbClr val="000000"/>
                </a:solidFill>
                <a:latin typeface="TT Fors"/>
                <a:ea typeface="TT Fors"/>
                <a:cs typeface="TT Fors"/>
                <a:sym typeface="TT Fors"/>
              </a:rPr>
              <a:t>% are non-active customers.</a:t>
            </a:r>
          </a:p>
        </p:txBody>
      </p:sp>
      <p:sp>
        <p:nvSpPr>
          <p:cNvPr id="10" name="TextBox 10"/>
          <p:cNvSpPr txBox="1"/>
          <p:nvPr/>
        </p:nvSpPr>
        <p:spPr>
          <a:xfrm>
            <a:off x="5837607" y="308610"/>
            <a:ext cx="4882824" cy="446276"/>
          </a:xfrm>
          <a:prstGeom prst="rect">
            <a:avLst/>
          </a:prstGeom>
        </p:spPr>
        <p:txBody>
          <a:bodyPr wrap="square" lIns="0" tIns="0" rIns="0" bIns="0" rtlCol="0" anchor="t">
            <a:spAutoFit/>
          </a:bodyPr>
          <a:lstStyle/>
          <a:p>
            <a:pPr algn="ctr">
              <a:lnSpc>
                <a:spcPts val="3640"/>
              </a:lnSpc>
              <a:spcBef>
                <a:spcPct val="0"/>
              </a:spcBef>
            </a:pPr>
            <a:r>
              <a:rPr lang="en-US" sz="2600" b="1" spc="-78" dirty="0">
                <a:solidFill>
                  <a:srgbClr val="000000"/>
                </a:solidFill>
                <a:latin typeface="TT Fors Bold"/>
                <a:ea typeface="TT Fors Bold"/>
                <a:cs typeface="TT Fors Bold"/>
                <a:sym typeface="TT Fors Bold"/>
              </a:rPr>
              <a:t>Credit score impact</a:t>
            </a:r>
          </a:p>
        </p:txBody>
      </p:sp>
      <p:sp>
        <p:nvSpPr>
          <p:cNvPr id="11" name="TextBox 11"/>
          <p:cNvSpPr txBox="1"/>
          <p:nvPr/>
        </p:nvSpPr>
        <p:spPr>
          <a:xfrm>
            <a:off x="5865904" y="4610644"/>
            <a:ext cx="6578835" cy="1471160"/>
          </a:xfrm>
          <a:prstGeom prst="rect">
            <a:avLst/>
          </a:prstGeom>
        </p:spPr>
        <p:txBody>
          <a:bodyPr lIns="0" tIns="0" rIns="0" bIns="0" rtlCol="0" anchor="t">
            <a:spAutoFit/>
          </a:bodyPr>
          <a:lstStyle/>
          <a:p>
            <a:pPr algn="ctr">
              <a:lnSpc>
                <a:spcPts val="3962"/>
              </a:lnSpc>
              <a:spcBef>
                <a:spcPct val="0"/>
              </a:spcBef>
            </a:pPr>
            <a:r>
              <a:rPr lang="en-US" sz="2830" spc="-84">
                <a:solidFill>
                  <a:srgbClr val="000000"/>
                </a:solidFill>
                <a:latin typeface="TT Fors"/>
                <a:ea typeface="TT Fors"/>
                <a:cs typeface="TT Fors"/>
                <a:sym typeface="TT Fors"/>
              </a:rPr>
              <a:t>It indicates that customers with </a:t>
            </a:r>
            <a:r>
              <a:rPr lang="en-US" sz="2830" b="1" spc="-84">
                <a:solidFill>
                  <a:srgbClr val="000000"/>
                </a:solidFill>
                <a:latin typeface="TT Fors Bold"/>
                <a:ea typeface="TT Fors Bold"/>
                <a:cs typeface="TT Fors Bold"/>
                <a:sym typeface="TT Fors Bold"/>
              </a:rPr>
              <a:t>better credit scores</a:t>
            </a:r>
            <a:r>
              <a:rPr lang="en-US" sz="2830" spc="-84">
                <a:solidFill>
                  <a:srgbClr val="000000"/>
                </a:solidFill>
                <a:latin typeface="TT Fors"/>
                <a:ea typeface="TT Fors"/>
                <a:cs typeface="TT Fors"/>
                <a:sym typeface="TT Fors"/>
              </a:rPr>
              <a:t>, which reflect their reliability, have left our bank.</a:t>
            </a:r>
          </a:p>
        </p:txBody>
      </p:sp>
      <p:sp>
        <p:nvSpPr>
          <p:cNvPr id="12" name="TextBox 12"/>
          <p:cNvSpPr txBox="1"/>
          <p:nvPr/>
        </p:nvSpPr>
        <p:spPr>
          <a:xfrm>
            <a:off x="12444739" y="4635024"/>
            <a:ext cx="5365167" cy="1446780"/>
          </a:xfrm>
          <a:prstGeom prst="rect">
            <a:avLst/>
          </a:prstGeom>
        </p:spPr>
        <p:txBody>
          <a:bodyPr lIns="0" tIns="0" rIns="0" bIns="0" rtlCol="0" anchor="t">
            <a:spAutoFit/>
          </a:bodyPr>
          <a:lstStyle/>
          <a:p>
            <a:pPr algn="ctr">
              <a:lnSpc>
                <a:spcPts val="3731"/>
              </a:lnSpc>
              <a:spcBef>
                <a:spcPct val="0"/>
              </a:spcBef>
            </a:pPr>
            <a:r>
              <a:rPr lang="en-US" sz="2665" spc="-79">
                <a:solidFill>
                  <a:srgbClr val="000000"/>
                </a:solidFill>
                <a:latin typeface="ITC Avant Garde Gothic"/>
                <a:ea typeface="ITC Avant Garde Gothic"/>
                <a:cs typeface="ITC Avant Garde Gothic"/>
                <a:sym typeface="ITC Avant Garde Gothic"/>
              </a:rPr>
              <a:t>Customers of </a:t>
            </a:r>
            <a:r>
              <a:rPr lang="en-US" sz="2665" b="1" spc="-79">
                <a:solidFill>
                  <a:srgbClr val="000000"/>
                </a:solidFill>
                <a:latin typeface="ITC Avant Garde Gothic Bold"/>
                <a:ea typeface="ITC Avant Garde Gothic Bold"/>
                <a:cs typeface="ITC Avant Garde Gothic Bold"/>
                <a:sym typeface="ITC Avant Garde Gothic Bold"/>
              </a:rPr>
              <a:t>Germany </a:t>
            </a:r>
            <a:r>
              <a:rPr lang="en-US" sz="2665" spc="-79">
                <a:solidFill>
                  <a:srgbClr val="000000"/>
                </a:solidFill>
                <a:latin typeface="ITC Avant Garde Gothic"/>
                <a:ea typeface="ITC Avant Garde Gothic"/>
                <a:cs typeface="ITC Avant Garde Gothic"/>
                <a:sym typeface="ITC Avant Garde Gothic"/>
              </a:rPr>
              <a:t>have ceased utilizing our banking services.</a:t>
            </a:r>
          </a:p>
        </p:txBody>
      </p:sp>
      <p:sp>
        <p:nvSpPr>
          <p:cNvPr id="13" name="TextBox 13"/>
          <p:cNvSpPr txBox="1"/>
          <p:nvPr/>
        </p:nvSpPr>
        <p:spPr>
          <a:xfrm>
            <a:off x="12262176" y="308611"/>
            <a:ext cx="4882824" cy="446276"/>
          </a:xfrm>
          <a:prstGeom prst="rect">
            <a:avLst/>
          </a:prstGeom>
        </p:spPr>
        <p:txBody>
          <a:bodyPr wrap="square" lIns="0" tIns="0" rIns="0" bIns="0" rtlCol="0" anchor="t">
            <a:spAutoFit/>
          </a:bodyPr>
          <a:lstStyle/>
          <a:p>
            <a:pPr algn="ctr">
              <a:lnSpc>
                <a:spcPts val="3640"/>
              </a:lnSpc>
              <a:spcBef>
                <a:spcPct val="0"/>
              </a:spcBef>
            </a:pPr>
            <a:r>
              <a:rPr lang="en-US" sz="2600" b="1" spc="-78" dirty="0">
                <a:solidFill>
                  <a:srgbClr val="000000"/>
                </a:solidFill>
                <a:latin typeface="TT Fors Bold"/>
                <a:ea typeface="TT Fors Bold"/>
                <a:cs typeface="TT Fors Bold"/>
                <a:sym typeface="TT Fors Bold"/>
              </a:rPr>
              <a:t>Country wise impact</a:t>
            </a:r>
          </a:p>
        </p:txBody>
      </p:sp>
      <p:sp>
        <p:nvSpPr>
          <p:cNvPr id="14" name="TextBox 14"/>
          <p:cNvSpPr txBox="1"/>
          <p:nvPr/>
        </p:nvSpPr>
        <p:spPr>
          <a:xfrm>
            <a:off x="470512" y="8855817"/>
            <a:ext cx="4347752" cy="1499394"/>
          </a:xfrm>
          <a:prstGeom prst="rect">
            <a:avLst/>
          </a:prstGeom>
        </p:spPr>
        <p:txBody>
          <a:bodyPr lIns="0" tIns="0" rIns="0" bIns="0" rtlCol="0" anchor="t">
            <a:spAutoFit/>
          </a:bodyPr>
          <a:lstStyle/>
          <a:p>
            <a:pPr algn="ctr">
              <a:lnSpc>
                <a:spcPts val="3981"/>
              </a:lnSpc>
              <a:spcBef>
                <a:spcPct val="0"/>
              </a:spcBef>
            </a:pPr>
            <a:r>
              <a:rPr lang="en-US" sz="2843" b="1" spc="-85" dirty="0">
                <a:solidFill>
                  <a:srgbClr val="000000"/>
                </a:solidFill>
                <a:latin typeface="TT Fors Bold"/>
                <a:ea typeface="TT Fors Bold"/>
                <a:cs typeface="TT Fors Bold"/>
                <a:sym typeface="TT Fors Bold"/>
              </a:rPr>
              <a:t>99.51</a:t>
            </a:r>
            <a:r>
              <a:rPr lang="en-US" sz="2843" spc="-85" dirty="0">
                <a:solidFill>
                  <a:srgbClr val="000000"/>
                </a:solidFill>
                <a:latin typeface="TT Fors"/>
                <a:ea typeface="TT Fors"/>
                <a:cs typeface="TT Fors"/>
                <a:sym typeface="TT Fors"/>
              </a:rPr>
              <a:t>% of persons who are complained have left our bank</a:t>
            </a:r>
          </a:p>
        </p:txBody>
      </p:sp>
      <p:sp>
        <p:nvSpPr>
          <p:cNvPr id="15" name="TextBox 15"/>
          <p:cNvSpPr txBox="1"/>
          <p:nvPr/>
        </p:nvSpPr>
        <p:spPr>
          <a:xfrm>
            <a:off x="6350986" y="8785118"/>
            <a:ext cx="5425705" cy="1447221"/>
          </a:xfrm>
          <a:prstGeom prst="rect">
            <a:avLst/>
          </a:prstGeom>
        </p:spPr>
        <p:txBody>
          <a:bodyPr lIns="0" tIns="0" rIns="0" bIns="0" rtlCol="0" anchor="t">
            <a:spAutoFit/>
          </a:bodyPr>
          <a:lstStyle/>
          <a:p>
            <a:pPr algn="l">
              <a:lnSpc>
                <a:spcPts val="3706"/>
              </a:lnSpc>
              <a:spcBef>
                <a:spcPct val="0"/>
              </a:spcBef>
            </a:pPr>
            <a:r>
              <a:rPr lang="en-US" sz="2647" spc="-79">
                <a:solidFill>
                  <a:srgbClr val="000000"/>
                </a:solidFill>
                <a:latin typeface="ITC Avant Garde Gothic"/>
                <a:ea typeface="ITC Avant Garde Gothic"/>
                <a:cs typeface="ITC Avant Garde Gothic"/>
                <a:sym typeface="ITC Avant Garde Gothic"/>
              </a:rPr>
              <a:t>Customers with larger bank balances often choose to leave their bank.</a:t>
            </a:r>
          </a:p>
        </p:txBody>
      </p:sp>
      <p:sp>
        <p:nvSpPr>
          <p:cNvPr id="16" name="TextBox 16"/>
          <p:cNvSpPr txBox="1"/>
          <p:nvPr/>
        </p:nvSpPr>
        <p:spPr>
          <a:xfrm>
            <a:off x="11776692" y="8957945"/>
            <a:ext cx="6511308" cy="953135"/>
          </a:xfrm>
          <a:prstGeom prst="rect">
            <a:avLst/>
          </a:prstGeom>
        </p:spPr>
        <p:txBody>
          <a:bodyPr lIns="0" tIns="0" rIns="0" bIns="0" rtlCol="0" anchor="t">
            <a:spAutoFit/>
          </a:bodyPr>
          <a:lstStyle/>
          <a:p>
            <a:pPr algn="l">
              <a:lnSpc>
                <a:spcPts val="3640"/>
              </a:lnSpc>
              <a:spcBef>
                <a:spcPct val="0"/>
              </a:spcBef>
            </a:pPr>
            <a:r>
              <a:rPr lang="en-US" sz="2600" spc="-78">
                <a:solidFill>
                  <a:srgbClr val="000000"/>
                </a:solidFill>
                <a:latin typeface="ITC Avant Garde Gothic"/>
                <a:ea typeface="ITC Avant Garde Gothic"/>
                <a:cs typeface="ITC Avant Garde Gothic"/>
                <a:sym typeface="ITC Avant Garde Gothic"/>
              </a:rPr>
              <a:t>The significant impact of individual salaries may not be readily apparent.</a:t>
            </a:r>
          </a:p>
        </p:txBody>
      </p:sp>
      <p:sp>
        <p:nvSpPr>
          <p:cNvPr id="17" name="TextBox 17"/>
          <p:cNvSpPr txBox="1"/>
          <p:nvPr/>
        </p:nvSpPr>
        <p:spPr>
          <a:xfrm>
            <a:off x="-528533" y="6696649"/>
            <a:ext cx="5532536" cy="432939"/>
          </a:xfrm>
          <a:prstGeom prst="rect">
            <a:avLst/>
          </a:prstGeom>
        </p:spPr>
        <p:txBody>
          <a:bodyPr wrap="square" lIns="0" tIns="0" rIns="0" bIns="0" rtlCol="0" anchor="t">
            <a:spAutoFit/>
          </a:bodyPr>
          <a:lstStyle/>
          <a:p>
            <a:pPr algn="ctr">
              <a:lnSpc>
                <a:spcPts val="3640"/>
              </a:lnSpc>
              <a:spcBef>
                <a:spcPct val="0"/>
              </a:spcBef>
            </a:pPr>
            <a:r>
              <a:rPr lang="en-US" sz="2600" b="1" spc="-78" dirty="0">
                <a:solidFill>
                  <a:srgbClr val="000000"/>
                </a:solidFill>
                <a:latin typeface="ITC Avant Garde Gothic Bold"/>
                <a:ea typeface="ITC Avant Garde Gothic Bold"/>
                <a:cs typeface="ITC Avant Garde Gothic Bold"/>
                <a:sym typeface="ITC Avant Garde Gothic Bold"/>
              </a:rPr>
              <a:t>The Impact of Complaints</a:t>
            </a:r>
          </a:p>
        </p:txBody>
      </p:sp>
      <p:sp>
        <p:nvSpPr>
          <p:cNvPr id="18" name="TextBox 18"/>
          <p:cNvSpPr txBox="1"/>
          <p:nvPr/>
        </p:nvSpPr>
        <p:spPr>
          <a:xfrm>
            <a:off x="6350003" y="6710429"/>
            <a:ext cx="4690467" cy="495935"/>
          </a:xfrm>
          <a:prstGeom prst="rect">
            <a:avLst/>
          </a:prstGeom>
        </p:spPr>
        <p:txBody>
          <a:bodyPr lIns="0" tIns="0" rIns="0" bIns="0" rtlCol="0" anchor="t">
            <a:spAutoFit/>
          </a:bodyPr>
          <a:lstStyle/>
          <a:p>
            <a:pPr algn="ctr">
              <a:lnSpc>
                <a:spcPts val="3640"/>
              </a:lnSpc>
              <a:spcBef>
                <a:spcPct val="0"/>
              </a:spcBef>
            </a:pPr>
            <a:r>
              <a:rPr lang="en-US" sz="2600" b="1" spc="-78" dirty="0">
                <a:solidFill>
                  <a:srgbClr val="000000"/>
                </a:solidFill>
                <a:latin typeface="ITC Avant Garde Gothic Bold"/>
                <a:ea typeface="ITC Avant Garde Gothic Bold"/>
                <a:cs typeface="ITC Avant Garde Gothic Bold"/>
                <a:sym typeface="ITC Avant Garde Gothic Bold"/>
              </a:rPr>
              <a:t>Distribution of Bank Balances</a:t>
            </a:r>
          </a:p>
        </p:txBody>
      </p:sp>
      <p:sp>
        <p:nvSpPr>
          <p:cNvPr id="19" name="TextBox 19"/>
          <p:cNvSpPr txBox="1"/>
          <p:nvPr/>
        </p:nvSpPr>
        <p:spPr>
          <a:xfrm>
            <a:off x="11443229" y="6710429"/>
            <a:ext cx="4607036" cy="495935"/>
          </a:xfrm>
          <a:prstGeom prst="rect">
            <a:avLst/>
          </a:prstGeom>
        </p:spPr>
        <p:txBody>
          <a:bodyPr lIns="0" tIns="0" rIns="0" bIns="0" rtlCol="0" anchor="t">
            <a:spAutoFit/>
          </a:bodyPr>
          <a:lstStyle/>
          <a:p>
            <a:pPr algn="ctr">
              <a:lnSpc>
                <a:spcPts val="3640"/>
              </a:lnSpc>
              <a:spcBef>
                <a:spcPct val="0"/>
              </a:spcBef>
            </a:pPr>
            <a:r>
              <a:rPr lang="en-US" sz="2600" b="1" spc="-78">
                <a:solidFill>
                  <a:srgbClr val="000000"/>
                </a:solidFill>
                <a:latin typeface="ITC Avant Garde Gothic Bold"/>
                <a:ea typeface="ITC Avant Garde Gothic Bold"/>
                <a:cs typeface="ITC Avant Garde Gothic Bold"/>
                <a:sym typeface="ITC Avant Garde Gothic Bold"/>
              </a:rPr>
              <a:t>Income of Individuals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3D6DB"/>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CCADAFD-47C7-3259-F9B8-F29842C6E017}"/>
              </a:ext>
            </a:extLst>
          </p:cNvPr>
          <p:cNvSpPr/>
          <p:nvPr/>
        </p:nvSpPr>
        <p:spPr>
          <a:xfrm>
            <a:off x="1787662" y="28696"/>
            <a:ext cx="13086019" cy="1446550"/>
          </a:xfrm>
          <a:prstGeom prst="rect">
            <a:avLst/>
          </a:prstGeom>
          <a:noFill/>
        </p:spPr>
        <p:txBody>
          <a:bodyPr wrap="none" lIns="91440" tIns="45720" rIns="91440" bIns="45720">
            <a:spAutoFit/>
          </a:bodyPr>
          <a:lstStyle/>
          <a:p>
            <a:pPr algn="ctr"/>
            <a:r>
              <a:rPr lang="en-US" sz="8800" b="0" cap="none" spc="0" dirty="0">
                <a:ln w="0"/>
                <a:solidFill>
                  <a:schemeClr val="tx1"/>
                </a:solidFill>
                <a:effectLst>
                  <a:outerShdw blurRad="38100" dist="19050" dir="2700000" algn="tl" rotWithShape="0">
                    <a:schemeClr val="dk1">
                      <a:alpha val="40000"/>
                    </a:schemeClr>
                  </a:outerShdw>
                </a:effectLst>
              </a:rPr>
              <a:t>DASHBOARD FOR THIS DATA</a:t>
            </a:r>
          </a:p>
        </p:txBody>
      </p:sp>
      <p:pic>
        <p:nvPicPr>
          <p:cNvPr id="6" name="Picture 5">
            <a:extLst>
              <a:ext uri="{FF2B5EF4-FFF2-40B4-BE49-F238E27FC236}">
                <a16:creationId xmlns:a16="http://schemas.microsoft.com/office/drawing/2014/main" id="{40C1F3A3-6196-4046-7D56-AE5F85C715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721" y="1486307"/>
            <a:ext cx="18128557" cy="8734929"/>
          </a:xfrm>
          <a:prstGeom prst="rect">
            <a:avLst/>
          </a:prstGeom>
        </p:spPr>
      </p:pic>
    </p:spTree>
    <p:extLst>
      <p:ext uri="{BB962C8B-B14F-4D97-AF65-F5344CB8AC3E}">
        <p14:creationId xmlns:p14="http://schemas.microsoft.com/office/powerpoint/2010/main" val="20462337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FD8DC"/>
        </a:solidFill>
        <a:effectLst/>
      </p:bgPr>
    </p:bg>
    <p:spTree>
      <p:nvGrpSpPr>
        <p:cNvPr id="1" name=""/>
        <p:cNvGrpSpPr/>
        <p:nvPr/>
      </p:nvGrpSpPr>
      <p:grpSpPr>
        <a:xfrm>
          <a:off x="0" y="0"/>
          <a:ext cx="0" cy="0"/>
          <a:chOff x="0" y="0"/>
          <a:chExt cx="0" cy="0"/>
        </a:xfrm>
      </p:grpSpPr>
      <p:sp>
        <p:nvSpPr>
          <p:cNvPr id="2" name="TextBox 2"/>
          <p:cNvSpPr txBox="1"/>
          <p:nvPr/>
        </p:nvSpPr>
        <p:spPr>
          <a:xfrm>
            <a:off x="833076" y="4286808"/>
            <a:ext cx="5600700" cy="5623847"/>
          </a:xfrm>
          <a:prstGeom prst="rect">
            <a:avLst/>
          </a:prstGeom>
        </p:spPr>
        <p:txBody>
          <a:bodyPr lIns="0" tIns="0" rIns="0" bIns="0" rtlCol="0" anchor="t">
            <a:spAutoFit/>
          </a:bodyPr>
          <a:lstStyle/>
          <a:p>
            <a:pPr marL="0" lvl="0" indent="0" algn="l">
              <a:lnSpc>
                <a:spcPts val="3986"/>
              </a:lnSpc>
            </a:pPr>
            <a:r>
              <a:rPr lang="en-US" sz="2847" dirty="0">
                <a:solidFill>
                  <a:srgbClr val="000000"/>
                </a:solidFill>
                <a:latin typeface="TT Fors"/>
                <a:ea typeface="TT Fors"/>
                <a:cs typeface="TT Fors"/>
                <a:sym typeface="TT Fors"/>
              </a:rPr>
              <a:t>To address the issue of</a:t>
            </a:r>
            <a:r>
              <a:rPr lang="en-US" sz="2847" dirty="0">
                <a:solidFill>
                  <a:srgbClr val="000000"/>
                </a:solidFill>
                <a:latin typeface="TT Fors Bold"/>
                <a:ea typeface="TT Fors Bold"/>
                <a:cs typeface="TT Fors Bold"/>
                <a:sym typeface="TT Fors Bold"/>
              </a:rPr>
              <a:t> low satisfaction</a:t>
            </a:r>
            <a:r>
              <a:rPr lang="en-US" sz="2847" dirty="0">
                <a:solidFill>
                  <a:srgbClr val="000000"/>
                </a:solidFill>
                <a:latin typeface="TT Fors"/>
                <a:ea typeface="TT Fors"/>
                <a:cs typeface="TT Fors"/>
                <a:sym typeface="TT Fors"/>
              </a:rPr>
              <a:t>, customizing services to meet individual needs helps create a personal connection, which in turn encourages customer loyalty. By leveraging customer data, businesses can improve interactions, increase satisfaction, and ultimately minimize the chances of churn.</a:t>
            </a:r>
          </a:p>
        </p:txBody>
      </p:sp>
      <p:sp>
        <p:nvSpPr>
          <p:cNvPr id="3" name="TextBox 3"/>
          <p:cNvSpPr txBox="1"/>
          <p:nvPr/>
        </p:nvSpPr>
        <p:spPr>
          <a:xfrm>
            <a:off x="833076" y="3389807"/>
            <a:ext cx="5600700" cy="556006"/>
          </a:xfrm>
          <a:prstGeom prst="rect">
            <a:avLst/>
          </a:prstGeom>
        </p:spPr>
        <p:txBody>
          <a:bodyPr lIns="0" tIns="0" rIns="0" bIns="0" rtlCol="0" anchor="t">
            <a:spAutoFit/>
          </a:bodyPr>
          <a:lstStyle/>
          <a:p>
            <a:pPr marL="0" lvl="0" indent="0" algn="l">
              <a:lnSpc>
                <a:spcPts val="4528"/>
              </a:lnSpc>
              <a:spcBef>
                <a:spcPct val="0"/>
              </a:spcBef>
            </a:pPr>
            <a:r>
              <a:rPr lang="en-US" sz="3234" b="1" u="sng" strike="noStrike" spc="-97">
                <a:solidFill>
                  <a:srgbClr val="000000"/>
                </a:solidFill>
                <a:latin typeface="TT Fors Bold"/>
                <a:ea typeface="TT Fors Bold"/>
                <a:cs typeface="TT Fors Bold"/>
                <a:sym typeface="TT Fors Bold"/>
              </a:rPr>
              <a:t>Personalization</a:t>
            </a:r>
          </a:p>
        </p:txBody>
      </p:sp>
      <p:sp>
        <p:nvSpPr>
          <p:cNvPr id="4" name="TextBox 4"/>
          <p:cNvSpPr txBox="1"/>
          <p:nvPr/>
        </p:nvSpPr>
        <p:spPr>
          <a:xfrm>
            <a:off x="6467372" y="4152900"/>
            <a:ext cx="4865423" cy="4597925"/>
          </a:xfrm>
          <a:prstGeom prst="rect">
            <a:avLst/>
          </a:prstGeom>
        </p:spPr>
        <p:txBody>
          <a:bodyPr lIns="0" tIns="0" rIns="0" bIns="0" rtlCol="0" anchor="t">
            <a:spAutoFit/>
          </a:bodyPr>
          <a:lstStyle/>
          <a:p>
            <a:pPr marL="0" lvl="0" indent="0" algn="l">
              <a:lnSpc>
                <a:spcPts val="3986"/>
              </a:lnSpc>
            </a:pPr>
            <a:r>
              <a:rPr lang="en-US" sz="2847" dirty="0">
                <a:solidFill>
                  <a:srgbClr val="000000"/>
                </a:solidFill>
                <a:latin typeface="TT Fors"/>
                <a:ea typeface="TT Fors"/>
                <a:cs typeface="TT Fors"/>
                <a:sym typeface="TT Fors"/>
              </a:rPr>
              <a:t>Implementing targeted </a:t>
            </a:r>
            <a:r>
              <a:rPr lang="en-US" sz="2847" b="1" dirty="0">
                <a:solidFill>
                  <a:srgbClr val="000000"/>
                </a:solidFill>
                <a:latin typeface="TT Fors"/>
                <a:ea typeface="TT Fors"/>
                <a:cs typeface="TT Fors"/>
                <a:sym typeface="TT Fors"/>
              </a:rPr>
              <a:t>loyalty programs </a:t>
            </a:r>
            <a:r>
              <a:rPr lang="en-US" sz="2847" dirty="0">
                <a:solidFill>
                  <a:srgbClr val="000000"/>
                </a:solidFill>
                <a:latin typeface="TT Fors"/>
                <a:ea typeface="TT Fors"/>
                <a:cs typeface="TT Fors"/>
                <a:sym typeface="TT Fors"/>
              </a:rPr>
              <a:t>can incentivize at-risk customers to stay. Offering rewards and exclusive benefits drives engagement, making customers feel valued and increasing their long-term commitment to the bank.</a:t>
            </a:r>
          </a:p>
        </p:txBody>
      </p:sp>
      <p:sp>
        <p:nvSpPr>
          <p:cNvPr id="5" name="TextBox 5"/>
          <p:cNvSpPr txBox="1"/>
          <p:nvPr/>
        </p:nvSpPr>
        <p:spPr>
          <a:xfrm>
            <a:off x="6467372" y="3389807"/>
            <a:ext cx="4010025" cy="556006"/>
          </a:xfrm>
          <a:prstGeom prst="rect">
            <a:avLst/>
          </a:prstGeom>
        </p:spPr>
        <p:txBody>
          <a:bodyPr lIns="0" tIns="0" rIns="0" bIns="0" rtlCol="0" anchor="t">
            <a:spAutoFit/>
          </a:bodyPr>
          <a:lstStyle/>
          <a:p>
            <a:pPr marL="0" lvl="0" indent="0" algn="l">
              <a:lnSpc>
                <a:spcPts val="4528"/>
              </a:lnSpc>
              <a:spcBef>
                <a:spcPct val="0"/>
              </a:spcBef>
            </a:pPr>
            <a:r>
              <a:rPr lang="en-US" sz="3234" b="1" u="sng" strike="noStrike" spc="-97">
                <a:solidFill>
                  <a:srgbClr val="000000"/>
                </a:solidFill>
                <a:latin typeface="TT Fors Bold"/>
                <a:ea typeface="TT Fors Bold"/>
                <a:cs typeface="TT Fors Bold"/>
                <a:sym typeface="TT Fors Bold"/>
              </a:rPr>
              <a:t>Loyalty Programs</a:t>
            </a:r>
          </a:p>
        </p:txBody>
      </p:sp>
      <p:sp>
        <p:nvSpPr>
          <p:cNvPr id="6" name="TextBox 6"/>
          <p:cNvSpPr txBox="1"/>
          <p:nvPr/>
        </p:nvSpPr>
        <p:spPr>
          <a:xfrm>
            <a:off x="12172950" y="4381851"/>
            <a:ext cx="4912945" cy="5110886"/>
          </a:xfrm>
          <a:prstGeom prst="rect">
            <a:avLst/>
          </a:prstGeom>
        </p:spPr>
        <p:txBody>
          <a:bodyPr lIns="0" tIns="0" rIns="0" bIns="0" rtlCol="0" anchor="t">
            <a:spAutoFit/>
          </a:bodyPr>
          <a:lstStyle/>
          <a:p>
            <a:pPr marL="0" lvl="0" indent="0" algn="l">
              <a:lnSpc>
                <a:spcPts val="3986"/>
              </a:lnSpc>
            </a:pPr>
            <a:r>
              <a:rPr lang="en-US" sz="2847" dirty="0">
                <a:solidFill>
                  <a:srgbClr val="000000"/>
                </a:solidFill>
                <a:latin typeface="TT Fors"/>
                <a:ea typeface="TT Fors"/>
                <a:cs typeface="TT Fors"/>
                <a:sym typeface="TT Fors"/>
              </a:rPr>
              <a:t>Utilizing predictive analytics enables </a:t>
            </a:r>
            <a:r>
              <a:rPr lang="en-US" sz="2847" b="1" dirty="0">
                <a:solidFill>
                  <a:srgbClr val="000000"/>
                </a:solidFill>
                <a:latin typeface="TT Fors"/>
                <a:ea typeface="TT Fors"/>
                <a:cs typeface="TT Fors"/>
                <a:sym typeface="TT Fors"/>
              </a:rPr>
              <a:t>early identification of potential churners</a:t>
            </a:r>
            <a:r>
              <a:rPr lang="en-US" sz="2847" dirty="0">
                <a:solidFill>
                  <a:srgbClr val="000000"/>
                </a:solidFill>
                <a:latin typeface="TT Fors"/>
                <a:ea typeface="TT Fors"/>
                <a:cs typeface="TT Fors"/>
                <a:sym typeface="TT Fors"/>
              </a:rPr>
              <a:t>. Engaging these customers with personalized outreach and solutions enhances their experience and demonstrates commitment, significantly reducing churn rates.</a:t>
            </a:r>
          </a:p>
        </p:txBody>
      </p:sp>
      <p:sp>
        <p:nvSpPr>
          <p:cNvPr id="7" name="TextBox 7"/>
          <p:cNvSpPr txBox="1"/>
          <p:nvPr/>
        </p:nvSpPr>
        <p:spPr>
          <a:xfrm>
            <a:off x="12172950" y="3484850"/>
            <a:ext cx="4770379" cy="556006"/>
          </a:xfrm>
          <a:prstGeom prst="rect">
            <a:avLst/>
          </a:prstGeom>
        </p:spPr>
        <p:txBody>
          <a:bodyPr lIns="0" tIns="0" rIns="0" bIns="0" rtlCol="0" anchor="t">
            <a:spAutoFit/>
          </a:bodyPr>
          <a:lstStyle/>
          <a:p>
            <a:pPr marL="0" lvl="0" indent="0" algn="l">
              <a:lnSpc>
                <a:spcPts val="4528"/>
              </a:lnSpc>
              <a:spcBef>
                <a:spcPct val="0"/>
              </a:spcBef>
            </a:pPr>
            <a:r>
              <a:rPr lang="en-US" sz="3234" b="1" u="sng" strike="noStrike" spc="-97">
                <a:solidFill>
                  <a:srgbClr val="000000"/>
                </a:solidFill>
                <a:latin typeface="TT Fors Bold"/>
                <a:ea typeface="TT Fors Bold"/>
                <a:cs typeface="TT Fors Bold"/>
                <a:sym typeface="TT Fors Bold"/>
              </a:rPr>
              <a:t>Proactive Engagement</a:t>
            </a:r>
          </a:p>
        </p:txBody>
      </p:sp>
      <p:grpSp>
        <p:nvGrpSpPr>
          <p:cNvPr id="8" name="Group 8"/>
          <p:cNvGrpSpPr/>
          <p:nvPr/>
        </p:nvGrpSpPr>
        <p:grpSpPr>
          <a:xfrm>
            <a:off x="666750" y="666750"/>
            <a:ext cx="11201400" cy="2162175"/>
            <a:chOff x="0" y="0"/>
            <a:chExt cx="14935200" cy="2882900"/>
          </a:xfrm>
        </p:grpSpPr>
        <p:sp>
          <p:nvSpPr>
            <p:cNvPr id="9" name="TextBox 9"/>
            <p:cNvSpPr txBox="1"/>
            <p:nvPr/>
          </p:nvSpPr>
          <p:spPr>
            <a:xfrm>
              <a:off x="0" y="-9525"/>
              <a:ext cx="14935200" cy="1626659"/>
            </a:xfrm>
            <a:prstGeom prst="rect">
              <a:avLst/>
            </a:prstGeom>
          </p:spPr>
          <p:txBody>
            <a:bodyPr lIns="0" tIns="0" rIns="0" bIns="0" rtlCol="0" anchor="t">
              <a:spAutoFit/>
            </a:bodyPr>
            <a:lstStyle/>
            <a:p>
              <a:pPr marL="0" lvl="0" indent="0" algn="l">
                <a:lnSpc>
                  <a:spcPts val="8000"/>
                </a:lnSpc>
                <a:spcBef>
                  <a:spcPct val="0"/>
                </a:spcBef>
              </a:pPr>
              <a:r>
                <a:rPr lang="en-US" sz="8000" u="none" strike="noStrike" spc="-240">
                  <a:solidFill>
                    <a:srgbClr val="000000"/>
                  </a:solidFill>
                  <a:latin typeface="ITC Avant Garde Gothic"/>
                  <a:ea typeface="ITC Avant Garde Gothic"/>
                  <a:cs typeface="ITC Avant Garde Gothic"/>
                  <a:sym typeface="ITC Avant Garde Gothic"/>
                </a:rPr>
                <a:t>Retention Strategies</a:t>
              </a:r>
            </a:p>
          </p:txBody>
        </p:sp>
        <p:sp>
          <p:nvSpPr>
            <p:cNvPr id="10" name="TextBox 10"/>
            <p:cNvSpPr txBox="1"/>
            <p:nvPr/>
          </p:nvSpPr>
          <p:spPr>
            <a:xfrm>
              <a:off x="0" y="2235200"/>
              <a:ext cx="13423900" cy="647700"/>
            </a:xfrm>
            <a:prstGeom prst="rect">
              <a:avLst/>
            </a:prstGeom>
          </p:spPr>
          <p:txBody>
            <a:bodyPr lIns="0" tIns="0" rIns="0" bIns="0" rtlCol="0" anchor="t">
              <a:spAutoFit/>
            </a:bodyPr>
            <a:lstStyle/>
            <a:p>
              <a:pPr marL="0" lvl="0" indent="0" algn="l">
                <a:lnSpc>
                  <a:spcPts val="3839"/>
                </a:lnSpc>
              </a:pPr>
              <a:r>
                <a:rPr lang="en-US" sz="3199" u="none" strike="noStrike" spc="-95">
                  <a:solidFill>
                    <a:srgbClr val="000000"/>
                  </a:solidFill>
                  <a:latin typeface="TT Fors"/>
                  <a:ea typeface="TT Fors"/>
                  <a:cs typeface="TT Fors"/>
                  <a:sym typeface="TT Fors"/>
                </a:rPr>
                <a:t>Enhancing Customer Loyalty</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FD8DC"/>
        </a:solidFill>
        <a:effectLst/>
      </p:bgPr>
    </p:bg>
    <p:spTree>
      <p:nvGrpSpPr>
        <p:cNvPr id="1" name=""/>
        <p:cNvGrpSpPr/>
        <p:nvPr/>
      </p:nvGrpSpPr>
      <p:grpSpPr>
        <a:xfrm>
          <a:off x="0" y="0"/>
          <a:ext cx="0" cy="0"/>
          <a:chOff x="0" y="0"/>
          <a:chExt cx="0" cy="0"/>
        </a:xfrm>
      </p:grpSpPr>
      <p:sp>
        <p:nvSpPr>
          <p:cNvPr id="2" name="TextBox 2"/>
          <p:cNvSpPr txBox="1"/>
          <p:nvPr/>
        </p:nvSpPr>
        <p:spPr>
          <a:xfrm>
            <a:off x="387151" y="4108273"/>
            <a:ext cx="6536086" cy="4685257"/>
          </a:xfrm>
          <a:prstGeom prst="rect">
            <a:avLst/>
          </a:prstGeom>
        </p:spPr>
        <p:txBody>
          <a:bodyPr lIns="0" tIns="0" rIns="0" bIns="0" rtlCol="0" anchor="t">
            <a:spAutoFit/>
          </a:bodyPr>
          <a:lstStyle/>
          <a:p>
            <a:pPr algn="l">
              <a:lnSpc>
                <a:spcPts val="4060"/>
              </a:lnSpc>
            </a:pPr>
            <a:r>
              <a:rPr lang="en-US" sz="2900" dirty="0">
                <a:solidFill>
                  <a:srgbClr val="000000"/>
                </a:solidFill>
                <a:latin typeface="Arimo"/>
                <a:ea typeface="Arimo"/>
                <a:cs typeface="Arimo"/>
                <a:sym typeface="Arimo"/>
              </a:rPr>
              <a:t>Banks can enhance customer engagement by </a:t>
            </a:r>
            <a:r>
              <a:rPr lang="en-US" sz="2900" b="1" dirty="0">
                <a:solidFill>
                  <a:srgbClr val="000000"/>
                </a:solidFill>
                <a:latin typeface="Arimo"/>
                <a:ea typeface="Arimo"/>
                <a:cs typeface="Arimo"/>
                <a:sym typeface="Arimo"/>
              </a:rPr>
              <a:t>offering tailored rewards programs </a:t>
            </a:r>
            <a:r>
              <a:rPr lang="en-US" sz="2900" dirty="0">
                <a:solidFill>
                  <a:srgbClr val="000000"/>
                </a:solidFill>
                <a:latin typeface="Arimo"/>
                <a:ea typeface="Arimo"/>
                <a:cs typeface="Arimo"/>
                <a:sym typeface="Arimo"/>
              </a:rPr>
              <a:t>for platinum, gold, silver, and diamond cardholders, boosting satisfaction. By customizing rewards to suit each card type, banks can provide added value and cater to the unique preferences and spending habits of their diverse clientele.</a:t>
            </a:r>
          </a:p>
        </p:txBody>
      </p:sp>
      <p:sp>
        <p:nvSpPr>
          <p:cNvPr id="3" name="TextBox 3"/>
          <p:cNvSpPr txBox="1"/>
          <p:nvPr/>
        </p:nvSpPr>
        <p:spPr>
          <a:xfrm>
            <a:off x="387151" y="2595063"/>
            <a:ext cx="6536086" cy="1130935"/>
          </a:xfrm>
          <a:prstGeom prst="rect">
            <a:avLst/>
          </a:prstGeom>
        </p:spPr>
        <p:txBody>
          <a:bodyPr lIns="0" tIns="0" rIns="0" bIns="0" rtlCol="0" anchor="t">
            <a:spAutoFit/>
          </a:bodyPr>
          <a:lstStyle/>
          <a:p>
            <a:pPr algn="l">
              <a:lnSpc>
                <a:spcPts val="4339"/>
              </a:lnSpc>
              <a:spcBef>
                <a:spcPct val="0"/>
              </a:spcBef>
            </a:pPr>
            <a:r>
              <a:rPr lang="en-US" sz="3099" b="1" spc="-92">
                <a:solidFill>
                  <a:srgbClr val="000000"/>
                </a:solidFill>
                <a:latin typeface="ITC Avant Garde Gothic Bold"/>
                <a:ea typeface="ITC Avant Garde Gothic Bold"/>
                <a:cs typeface="ITC Avant Garde Gothic Bold"/>
                <a:sym typeface="ITC Avant Garde Gothic Bold"/>
              </a:rPr>
              <a:t>Enhancing the Experience for Cardholders</a:t>
            </a:r>
          </a:p>
        </p:txBody>
      </p:sp>
      <p:sp>
        <p:nvSpPr>
          <p:cNvPr id="4" name="TextBox 4"/>
          <p:cNvSpPr txBox="1"/>
          <p:nvPr/>
        </p:nvSpPr>
        <p:spPr>
          <a:xfrm>
            <a:off x="6923238" y="2595063"/>
            <a:ext cx="4658962" cy="1130935"/>
          </a:xfrm>
          <a:prstGeom prst="rect">
            <a:avLst/>
          </a:prstGeom>
        </p:spPr>
        <p:txBody>
          <a:bodyPr lIns="0" tIns="0" rIns="0" bIns="0" rtlCol="0" anchor="t">
            <a:spAutoFit/>
          </a:bodyPr>
          <a:lstStyle/>
          <a:p>
            <a:pPr algn="l">
              <a:lnSpc>
                <a:spcPts val="4339"/>
              </a:lnSpc>
              <a:spcBef>
                <a:spcPct val="0"/>
              </a:spcBef>
            </a:pPr>
            <a:r>
              <a:rPr lang="en-US" sz="3099" b="1" spc="-92">
                <a:solidFill>
                  <a:srgbClr val="000000"/>
                </a:solidFill>
                <a:latin typeface="ITC Avant Garde Gothic Bold"/>
                <a:ea typeface="ITC Avant Garde Gothic Bold"/>
                <a:cs typeface="ITC Avant Garde Gothic Bold"/>
                <a:sym typeface="ITC Avant Garde Gothic Bold"/>
              </a:rPr>
              <a:t>Pay close attention to customer complaints.</a:t>
            </a:r>
          </a:p>
        </p:txBody>
      </p:sp>
      <p:sp>
        <p:nvSpPr>
          <p:cNvPr id="5" name="TextBox 5"/>
          <p:cNvSpPr txBox="1"/>
          <p:nvPr/>
        </p:nvSpPr>
        <p:spPr>
          <a:xfrm>
            <a:off x="6923238" y="4098748"/>
            <a:ext cx="4431732" cy="3032496"/>
          </a:xfrm>
          <a:prstGeom prst="rect">
            <a:avLst/>
          </a:prstGeom>
        </p:spPr>
        <p:txBody>
          <a:bodyPr lIns="0" tIns="0" rIns="0" bIns="0" rtlCol="0" anchor="t">
            <a:spAutoFit/>
          </a:bodyPr>
          <a:lstStyle/>
          <a:p>
            <a:pPr algn="l">
              <a:lnSpc>
                <a:spcPts val="4004"/>
              </a:lnSpc>
            </a:pPr>
            <a:r>
              <a:rPr lang="en-US" sz="2860" b="1" dirty="0">
                <a:solidFill>
                  <a:srgbClr val="000000"/>
                </a:solidFill>
                <a:latin typeface="Arimo"/>
                <a:ea typeface="Arimo"/>
                <a:cs typeface="Arimo"/>
                <a:sym typeface="Arimo"/>
              </a:rPr>
              <a:t>Listening to customer complaints </a:t>
            </a:r>
            <a:r>
              <a:rPr lang="en-US" sz="2860" dirty="0">
                <a:solidFill>
                  <a:srgbClr val="000000"/>
                </a:solidFill>
                <a:latin typeface="Arimo"/>
                <a:ea typeface="Arimo"/>
                <a:cs typeface="Arimo"/>
                <a:sym typeface="Arimo"/>
              </a:rPr>
              <a:t>is key to building loyalty and enhancing your business reputation through effective resolutions.</a:t>
            </a:r>
          </a:p>
        </p:txBody>
      </p:sp>
      <p:sp>
        <p:nvSpPr>
          <p:cNvPr id="6" name="TextBox 6"/>
          <p:cNvSpPr txBox="1"/>
          <p:nvPr/>
        </p:nvSpPr>
        <p:spPr>
          <a:xfrm>
            <a:off x="12020967" y="2707458"/>
            <a:ext cx="5697736" cy="588010"/>
          </a:xfrm>
          <a:prstGeom prst="rect">
            <a:avLst/>
          </a:prstGeom>
        </p:spPr>
        <p:txBody>
          <a:bodyPr lIns="0" tIns="0" rIns="0" bIns="0" rtlCol="0" anchor="t">
            <a:spAutoFit/>
          </a:bodyPr>
          <a:lstStyle/>
          <a:p>
            <a:pPr algn="ctr">
              <a:lnSpc>
                <a:spcPts val="4339"/>
              </a:lnSpc>
              <a:spcBef>
                <a:spcPct val="0"/>
              </a:spcBef>
            </a:pPr>
            <a:r>
              <a:rPr lang="en-US" sz="3099" b="1" spc="-92">
                <a:solidFill>
                  <a:srgbClr val="000000"/>
                </a:solidFill>
                <a:latin typeface="ITC Avant Garde Gothic Bold"/>
                <a:ea typeface="ITC Avant Garde Gothic Bold"/>
                <a:cs typeface="ITC Avant Garde Gothic Bold"/>
                <a:sym typeface="ITC Avant Garde Gothic Bold"/>
              </a:rPr>
              <a:t>Special attention to Germany.</a:t>
            </a:r>
          </a:p>
        </p:txBody>
      </p:sp>
      <p:sp>
        <p:nvSpPr>
          <p:cNvPr id="7" name="TextBox 7"/>
          <p:cNvSpPr txBox="1"/>
          <p:nvPr/>
        </p:nvSpPr>
        <p:spPr>
          <a:xfrm>
            <a:off x="12020967" y="4070173"/>
            <a:ext cx="5956008" cy="2324735"/>
          </a:xfrm>
          <a:prstGeom prst="rect">
            <a:avLst/>
          </a:prstGeom>
        </p:spPr>
        <p:txBody>
          <a:bodyPr lIns="0" tIns="0" rIns="0" bIns="0" rtlCol="0" anchor="t">
            <a:spAutoFit/>
          </a:bodyPr>
          <a:lstStyle/>
          <a:p>
            <a:pPr algn="ctr">
              <a:lnSpc>
                <a:spcPts val="3640"/>
              </a:lnSpc>
              <a:spcBef>
                <a:spcPct val="0"/>
              </a:spcBef>
            </a:pPr>
            <a:r>
              <a:rPr lang="en-US" sz="2600" spc="-78" dirty="0">
                <a:solidFill>
                  <a:srgbClr val="000000"/>
                </a:solidFill>
                <a:latin typeface="ITC Avant Garde Gothic"/>
                <a:ea typeface="ITC Avant Garde Gothic"/>
                <a:cs typeface="ITC Avant Garde Gothic"/>
                <a:sym typeface="ITC Avant Garde Gothic"/>
              </a:rPr>
              <a:t>We must pay special attention to our customers in </a:t>
            </a:r>
            <a:r>
              <a:rPr lang="en-US" sz="2600" b="1" spc="-78" dirty="0">
                <a:solidFill>
                  <a:srgbClr val="000000"/>
                </a:solidFill>
                <a:latin typeface="ITC Avant Garde Gothic"/>
                <a:ea typeface="ITC Avant Garde Gothic"/>
                <a:cs typeface="ITC Avant Garde Gothic"/>
                <a:sym typeface="ITC Avant Garde Gothic"/>
              </a:rPr>
              <a:t>Germany</a:t>
            </a:r>
            <a:r>
              <a:rPr lang="en-US" sz="2600" spc="-78" dirty="0">
                <a:solidFill>
                  <a:srgbClr val="000000"/>
                </a:solidFill>
                <a:latin typeface="ITC Avant Garde Gothic"/>
                <a:ea typeface="ITC Avant Garde Gothic"/>
                <a:cs typeface="ITC Avant Garde Gothic"/>
                <a:sym typeface="ITC Avant Garde Gothic"/>
              </a:rPr>
              <a:t>. It’s essential to communicate with them, provide exclusive offers, and engage them with our banking services.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FD8DC"/>
        </a:solidFill>
        <a:effectLst/>
      </p:bgPr>
    </p:bg>
    <p:spTree>
      <p:nvGrpSpPr>
        <p:cNvPr id="1" name=""/>
        <p:cNvGrpSpPr/>
        <p:nvPr/>
      </p:nvGrpSpPr>
      <p:grpSpPr>
        <a:xfrm>
          <a:off x="0" y="0"/>
          <a:ext cx="0" cy="0"/>
          <a:chOff x="0" y="0"/>
          <a:chExt cx="0" cy="0"/>
        </a:xfrm>
      </p:grpSpPr>
      <p:sp>
        <p:nvSpPr>
          <p:cNvPr id="2" name="TextBox 2"/>
          <p:cNvSpPr txBox="1"/>
          <p:nvPr/>
        </p:nvSpPr>
        <p:spPr>
          <a:xfrm>
            <a:off x="575471" y="1028700"/>
            <a:ext cx="16512370" cy="1888243"/>
          </a:xfrm>
          <a:prstGeom prst="rect">
            <a:avLst/>
          </a:prstGeom>
        </p:spPr>
        <p:txBody>
          <a:bodyPr lIns="0" tIns="0" rIns="0" bIns="0" rtlCol="0" anchor="t">
            <a:spAutoFit/>
          </a:bodyPr>
          <a:lstStyle/>
          <a:p>
            <a:pPr marL="0" lvl="0" indent="0" algn="l">
              <a:lnSpc>
                <a:spcPts val="12454"/>
              </a:lnSpc>
              <a:spcBef>
                <a:spcPct val="0"/>
              </a:spcBef>
            </a:pPr>
            <a:r>
              <a:rPr lang="en-US" sz="12454" u="none" strike="noStrike" spc="-373">
                <a:solidFill>
                  <a:srgbClr val="000000"/>
                </a:solidFill>
                <a:latin typeface="ITC Avant Garde Gothic"/>
                <a:ea typeface="ITC Avant Garde Gothic"/>
                <a:cs typeface="ITC Avant Garde Gothic"/>
                <a:sym typeface="ITC Avant Garde Gothic"/>
              </a:rPr>
              <a:t>Key Findings on Churn</a:t>
            </a:r>
          </a:p>
        </p:txBody>
      </p:sp>
      <p:sp>
        <p:nvSpPr>
          <p:cNvPr id="3" name="TextBox 3"/>
          <p:cNvSpPr txBox="1"/>
          <p:nvPr/>
        </p:nvSpPr>
        <p:spPr>
          <a:xfrm>
            <a:off x="575471" y="5000810"/>
            <a:ext cx="14555183" cy="2721455"/>
          </a:xfrm>
          <a:prstGeom prst="rect">
            <a:avLst/>
          </a:prstGeom>
        </p:spPr>
        <p:txBody>
          <a:bodyPr lIns="0" tIns="0" rIns="0" bIns="0" rtlCol="0" anchor="t">
            <a:spAutoFit/>
          </a:bodyPr>
          <a:lstStyle/>
          <a:p>
            <a:pPr marL="0" lvl="0" indent="0" algn="l">
              <a:lnSpc>
                <a:spcPts val="5428"/>
              </a:lnSpc>
            </a:pPr>
            <a:r>
              <a:rPr lang="en-US" sz="3877">
                <a:solidFill>
                  <a:srgbClr val="000000"/>
                </a:solidFill>
                <a:latin typeface="TT Fors"/>
                <a:ea typeface="TT Fors"/>
                <a:cs typeface="TT Fors"/>
                <a:sym typeface="TT Fors"/>
              </a:rPr>
              <a:t>Understanding the primary </a:t>
            </a:r>
            <a:r>
              <a:rPr lang="en-US" sz="3877" b="1">
                <a:solidFill>
                  <a:srgbClr val="000000"/>
                </a:solidFill>
                <a:latin typeface="TT Fors Bold"/>
                <a:ea typeface="TT Fors Bold"/>
                <a:cs typeface="TT Fors Bold"/>
                <a:sym typeface="TT Fors Bold"/>
              </a:rPr>
              <a:t>drivers of bank churn</a:t>
            </a:r>
            <a:r>
              <a:rPr lang="en-US" sz="3877">
                <a:solidFill>
                  <a:srgbClr val="000000"/>
                </a:solidFill>
                <a:latin typeface="TT Fors"/>
                <a:ea typeface="TT Fors"/>
                <a:cs typeface="TT Fors"/>
                <a:sym typeface="TT Fors"/>
              </a:rPr>
              <a:t>, like service dissatisfaction and competitive pressure, is essential for improving retention strategies and optimizing </a:t>
            </a:r>
            <a:r>
              <a:rPr lang="en-US" sz="3877" b="1">
                <a:solidFill>
                  <a:srgbClr val="000000"/>
                </a:solidFill>
                <a:latin typeface="TT Fors Bold"/>
                <a:ea typeface="TT Fors Bold"/>
                <a:cs typeface="TT Fors Bold"/>
                <a:sym typeface="TT Fors Bold"/>
              </a:rPr>
              <a:t>long-term customer loyalty</a:t>
            </a:r>
            <a:r>
              <a:rPr lang="en-US" sz="3877">
                <a:solidFill>
                  <a:srgbClr val="000000"/>
                </a:solidFill>
                <a:latin typeface="TT Fors"/>
                <a:ea typeface="TT Fors"/>
                <a:cs typeface="TT Fors"/>
                <a:sym typeface="TT Fors"/>
              </a:rPr>
              <a:t> in the banking sector.</a:t>
            </a:r>
          </a:p>
        </p:txBody>
      </p:sp>
      <p:sp>
        <p:nvSpPr>
          <p:cNvPr id="4" name="TextBox 4"/>
          <p:cNvSpPr txBox="1"/>
          <p:nvPr/>
        </p:nvSpPr>
        <p:spPr>
          <a:xfrm>
            <a:off x="575471" y="3648151"/>
            <a:ext cx="14392159" cy="746760"/>
          </a:xfrm>
          <a:prstGeom prst="rect">
            <a:avLst/>
          </a:prstGeom>
        </p:spPr>
        <p:txBody>
          <a:bodyPr lIns="0" tIns="0" rIns="0" bIns="0" rtlCol="0" anchor="t">
            <a:spAutoFit/>
          </a:bodyPr>
          <a:lstStyle/>
          <a:p>
            <a:pPr marL="0" lvl="0" indent="0" algn="l">
              <a:lnSpc>
                <a:spcPts val="5978"/>
              </a:lnSpc>
              <a:spcBef>
                <a:spcPct val="0"/>
              </a:spcBef>
            </a:pPr>
            <a:r>
              <a:rPr lang="en-US" sz="4981" u="none" strike="noStrike" spc="-149">
                <a:solidFill>
                  <a:srgbClr val="000000"/>
                </a:solidFill>
                <a:latin typeface="TT Fors"/>
                <a:ea typeface="TT Fors"/>
                <a:cs typeface="TT Fors"/>
                <a:sym typeface="TT Fors"/>
              </a:rPr>
              <a:t>Drivers and Business Impact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CFD8DC"/>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6886575" cy="2062103"/>
          </a:xfrm>
          <a:prstGeom prst="rect">
            <a:avLst/>
          </a:prstGeom>
        </p:spPr>
        <p:txBody>
          <a:bodyPr lIns="0" tIns="0" rIns="0" bIns="0" rtlCol="0" anchor="t">
            <a:spAutoFit/>
          </a:bodyPr>
          <a:lstStyle/>
          <a:p>
            <a:pPr marL="0" lvl="0" indent="0" algn="l">
              <a:lnSpc>
                <a:spcPts val="8000"/>
              </a:lnSpc>
              <a:spcBef>
                <a:spcPct val="0"/>
              </a:spcBef>
            </a:pPr>
            <a:r>
              <a:rPr lang="en-US" sz="8000" u="none" strike="noStrike" spc="-240" dirty="0">
                <a:solidFill>
                  <a:srgbClr val="000000"/>
                </a:solidFill>
                <a:latin typeface="ITC Avant Garde Gothic"/>
                <a:ea typeface="ITC Avant Garde Gothic"/>
                <a:cs typeface="ITC Avant Garde Gothic"/>
                <a:sym typeface="ITC Avant Garde Gothic"/>
              </a:rPr>
              <a:t>Thank you for you attention</a:t>
            </a:r>
          </a:p>
        </p:txBody>
      </p:sp>
      <p:grpSp>
        <p:nvGrpSpPr>
          <p:cNvPr id="3" name="Group 3"/>
          <p:cNvGrpSpPr/>
          <p:nvPr/>
        </p:nvGrpSpPr>
        <p:grpSpPr>
          <a:xfrm>
            <a:off x="9271818" y="4493682"/>
            <a:ext cx="6886576" cy="1083123"/>
            <a:chOff x="-193366" y="-1966065"/>
            <a:chExt cx="9182100" cy="1444164"/>
          </a:xfrm>
        </p:grpSpPr>
        <p:sp>
          <p:nvSpPr>
            <p:cNvPr id="4" name="TextBox 4"/>
            <p:cNvSpPr txBox="1"/>
            <p:nvPr/>
          </p:nvSpPr>
          <p:spPr>
            <a:xfrm>
              <a:off x="-193366" y="-1966065"/>
              <a:ext cx="9182100" cy="462280"/>
            </a:xfrm>
            <a:prstGeom prst="rect">
              <a:avLst/>
            </a:prstGeom>
          </p:spPr>
          <p:txBody>
            <a:bodyPr lIns="0" tIns="0" rIns="0" bIns="0" rtlCol="0" anchor="t">
              <a:spAutoFit/>
            </a:bodyPr>
            <a:lstStyle/>
            <a:p>
              <a:pPr marL="0" lvl="0" indent="0" algn="l">
                <a:lnSpc>
                  <a:spcPts val="2940"/>
                </a:lnSpc>
                <a:spcBef>
                  <a:spcPct val="0"/>
                </a:spcBef>
              </a:pPr>
              <a:r>
                <a:rPr lang="en-US" sz="2100" u="none" strike="noStrike" dirty="0">
                  <a:solidFill>
                    <a:srgbClr val="000000"/>
                  </a:solidFill>
                  <a:latin typeface="TT Fors"/>
                  <a:ea typeface="TT Fors"/>
                  <a:cs typeface="TT Fors"/>
                  <a:sym typeface="TT Fors"/>
                </a:rPr>
                <a:t>Email</a:t>
              </a:r>
            </a:p>
          </p:txBody>
        </p:sp>
        <p:sp>
          <p:nvSpPr>
            <p:cNvPr id="5" name="TextBox 5"/>
            <p:cNvSpPr txBox="1"/>
            <p:nvPr/>
          </p:nvSpPr>
          <p:spPr>
            <a:xfrm>
              <a:off x="-193366" y="-1236275"/>
              <a:ext cx="9182099" cy="714374"/>
            </a:xfrm>
            <a:prstGeom prst="rect">
              <a:avLst/>
            </a:prstGeom>
          </p:spPr>
          <p:txBody>
            <a:bodyPr lIns="0" tIns="0" rIns="0" bIns="0" rtlCol="0" anchor="t">
              <a:spAutoFit/>
            </a:bodyPr>
            <a:lstStyle/>
            <a:p>
              <a:pPr marL="0" lvl="0" indent="0" algn="l">
                <a:lnSpc>
                  <a:spcPts val="3839"/>
                </a:lnSpc>
                <a:spcBef>
                  <a:spcPct val="0"/>
                </a:spcBef>
              </a:pPr>
              <a:r>
                <a:rPr lang="en-US" sz="3199" spc="-95" dirty="0">
                  <a:solidFill>
                    <a:srgbClr val="000000"/>
                  </a:solidFill>
                  <a:latin typeface="ITC Avant Garde Gothic"/>
                  <a:ea typeface="ITC Avant Garde Gothic"/>
                  <a:cs typeface="ITC Avant Garde Gothic"/>
                  <a:sym typeface="ITC Avant Garde Gothic"/>
                </a:rPr>
                <a:t>nsaha3827@gmail.com</a:t>
              </a:r>
            </a:p>
          </p:txBody>
        </p:sp>
      </p:grpSp>
      <p:grpSp>
        <p:nvGrpSpPr>
          <p:cNvPr id="9" name="Group 9"/>
          <p:cNvGrpSpPr/>
          <p:nvPr/>
        </p:nvGrpSpPr>
        <p:grpSpPr>
          <a:xfrm>
            <a:off x="9296400" y="6039535"/>
            <a:ext cx="6886575" cy="899177"/>
            <a:chOff x="0" y="0"/>
            <a:chExt cx="9182100" cy="1198902"/>
          </a:xfrm>
        </p:grpSpPr>
        <p:sp>
          <p:nvSpPr>
            <p:cNvPr id="10" name="TextBox 10"/>
            <p:cNvSpPr txBox="1"/>
            <p:nvPr/>
          </p:nvSpPr>
          <p:spPr>
            <a:xfrm>
              <a:off x="0" y="-38100"/>
              <a:ext cx="9182100" cy="462280"/>
            </a:xfrm>
            <a:prstGeom prst="rect">
              <a:avLst/>
            </a:prstGeom>
          </p:spPr>
          <p:txBody>
            <a:bodyPr lIns="0" tIns="0" rIns="0" bIns="0" rtlCol="0" anchor="t">
              <a:spAutoFit/>
            </a:bodyPr>
            <a:lstStyle/>
            <a:p>
              <a:pPr marL="0" lvl="0" indent="0" algn="l">
                <a:lnSpc>
                  <a:spcPts val="2940"/>
                </a:lnSpc>
                <a:spcBef>
                  <a:spcPct val="0"/>
                </a:spcBef>
              </a:pPr>
              <a:r>
                <a:rPr lang="en-US" sz="2100" u="none" strike="noStrike">
                  <a:solidFill>
                    <a:srgbClr val="000000"/>
                  </a:solidFill>
                  <a:latin typeface="TT Fors"/>
                  <a:ea typeface="TT Fors"/>
                  <a:cs typeface="TT Fors"/>
                  <a:sym typeface="TT Fors"/>
                </a:rPr>
                <a:t>Phone</a:t>
              </a:r>
            </a:p>
          </p:txBody>
        </p:sp>
        <p:sp>
          <p:nvSpPr>
            <p:cNvPr id="11" name="TextBox 11"/>
            <p:cNvSpPr txBox="1"/>
            <p:nvPr/>
          </p:nvSpPr>
          <p:spPr>
            <a:xfrm>
              <a:off x="0" y="484527"/>
              <a:ext cx="9182100" cy="714375"/>
            </a:xfrm>
            <a:prstGeom prst="rect">
              <a:avLst/>
            </a:prstGeom>
          </p:spPr>
          <p:txBody>
            <a:bodyPr lIns="0" tIns="0" rIns="0" bIns="0" rtlCol="0" anchor="t">
              <a:spAutoFit/>
            </a:bodyPr>
            <a:lstStyle/>
            <a:p>
              <a:pPr marL="0" lvl="0" indent="0" algn="l">
                <a:lnSpc>
                  <a:spcPts val="3839"/>
                </a:lnSpc>
                <a:spcBef>
                  <a:spcPct val="0"/>
                </a:spcBef>
              </a:pPr>
              <a:r>
                <a:rPr lang="en-US" sz="3199" spc="-95" dirty="0">
                  <a:solidFill>
                    <a:srgbClr val="000000"/>
                  </a:solidFill>
                  <a:latin typeface="ITC Avant Garde Gothic"/>
                  <a:ea typeface="ITC Avant Garde Gothic"/>
                  <a:cs typeface="ITC Avant Garde Gothic"/>
                  <a:sym typeface="ITC Avant Garde Gothic"/>
                </a:rPr>
                <a:t>9836315141</a:t>
              </a:r>
            </a:p>
          </p:txBody>
        </p:sp>
      </p:grpSp>
      <p:sp>
        <p:nvSpPr>
          <p:cNvPr id="13" name="TextBox 12">
            <a:extLst>
              <a:ext uri="{FF2B5EF4-FFF2-40B4-BE49-F238E27FC236}">
                <a16:creationId xmlns:a16="http://schemas.microsoft.com/office/drawing/2014/main" id="{58D67FD2-72D4-9D87-5FBA-0AE31069ED3A}"/>
              </a:ext>
            </a:extLst>
          </p:cNvPr>
          <p:cNvSpPr txBox="1"/>
          <p:nvPr/>
        </p:nvSpPr>
        <p:spPr>
          <a:xfrm>
            <a:off x="9144000" y="2997160"/>
            <a:ext cx="4208206" cy="1015663"/>
          </a:xfrm>
          <a:prstGeom prst="rect">
            <a:avLst/>
          </a:prstGeom>
          <a:noFill/>
        </p:spPr>
        <p:txBody>
          <a:bodyPr wrap="square" rtlCol="0">
            <a:spAutoFit/>
          </a:bodyPr>
          <a:lstStyle/>
          <a:p>
            <a:r>
              <a:rPr lang="en-US" sz="3200" dirty="0">
                <a:latin typeface="TT Fors "/>
              </a:rPr>
              <a:t>Presented</a:t>
            </a:r>
            <a:r>
              <a:rPr lang="en-US" sz="2800" dirty="0">
                <a:latin typeface="TT Fors "/>
              </a:rPr>
              <a:t> by </a:t>
            </a:r>
          </a:p>
          <a:p>
            <a:r>
              <a:rPr lang="en-US" sz="2800" dirty="0">
                <a:latin typeface="TT Fors "/>
              </a:rPr>
              <a:t>Niloy Saha</a:t>
            </a:r>
            <a:endParaRPr lang="en-IN" sz="2800" dirty="0">
              <a:latin typeface="TT Fors "/>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698</Words>
  <Application>Microsoft Office PowerPoint</Application>
  <PresentationFormat>Custom</PresentationFormat>
  <Paragraphs>67</Paragraphs>
  <Slides>13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Calibri</vt:lpstr>
      <vt:lpstr>TT Fors </vt:lpstr>
      <vt:lpstr>ITC Avant Garde Gothic</vt:lpstr>
      <vt:lpstr>TT Fors</vt:lpstr>
      <vt:lpstr>TT Fors Bold</vt:lpstr>
      <vt:lpstr>Arimo</vt:lpstr>
      <vt:lpstr>Arial</vt:lpstr>
      <vt:lpstr>ITC Avant Garde Gothic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Bank Churn Explained</dc:title>
  <dc:creator>Niloy</dc:creator>
  <dc:description>Presentation - Bank Churn Explained</dc:description>
  <cp:lastModifiedBy>Niloy saha</cp:lastModifiedBy>
  <cp:revision>4</cp:revision>
  <dcterms:created xsi:type="dcterms:W3CDTF">2006-08-16T00:00:00Z</dcterms:created>
  <dcterms:modified xsi:type="dcterms:W3CDTF">2025-11-02T16:46:50Z</dcterms:modified>
  <dc:identifier>DAG246qu4g0</dc:identifier>
</cp:coreProperties>
</file>